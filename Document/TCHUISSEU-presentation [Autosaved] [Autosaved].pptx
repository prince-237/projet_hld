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8"/>
  </p:notesMasterIdLst>
  <p:sldIdLst>
    <p:sldId id="256" r:id="rId5"/>
    <p:sldId id="258" r:id="rId6"/>
    <p:sldId id="257" r:id="rId7"/>
    <p:sldId id="259" r:id="rId8"/>
    <p:sldId id="261" r:id="rId9"/>
    <p:sldId id="260" r:id="rId10"/>
    <p:sldId id="262" r:id="rId11"/>
    <p:sldId id="263" r:id="rId12"/>
    <p:sldId id="264" r:id="rId13"/>
    <p:sldId id="265" r:id="rId14"/>
    <p:sldId id="266" r:id="rId15"/>
    <p:sldId id="267" r:id="rId16"/>
    <p:sldId id="268" r:id="rId17"/>
  </p:sldIdLst>
  <p:sldSz cx="10058400" cy="7772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72625"/>
    <a:srgbClr val="201F1E"/>
    <a:srgbClr val="DFF4F0"/>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48"/>
  </p:normalViewPr>
  <p:slideViewPr>
    <p:cSldViewPr snapToGrid="0" snapToObjects="1">
      <p:cViewPr varScale="1">
        <p:scale>
          <a:sx n="55" d="100"/>
          <a:sy n="55" d="100"/>
        </p:scale>
        <p:origin x="1464"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ERICH Prince" userId="27e7a376b44b4d0d" providerId="LiveId" clId="{5DE29B32-8FAB-43EB-B570-41DA6A41ADDD}"/>
    <pc:docChg chg="undo custSel modSld">
      <pc:chgData name="THERICH Prince" userId="27e7a376b44b4d0d" providerId="LiveId" clId="{5DE29B32-8FAB-43EB-B570-41DA6A41ADDD}" dt="2026-03-22T08:31:26.801" v="70" actId="20577"/>
      <pc:docMkLst>
        <pc:docMk/>
      </pc:docMkLst>
      <pc:sldChg chg="modSp mod">
        <pc:chgData name="THERICH Prince" userId="27e7a376b44b4d0d" providerId="LiveId" clId="{5DE29B32-8FAB-43EB-B570-41DA6A41ADDD}" dt="2026-03-22T08:25:55.251" v="2" actId="20577"/>
        <pc:sldMkLst>
          <pc:docMk/>
          <pc:sldMk cId="3113318551" sldId="265"/>
        </pc:sldMkLst>
        <pc:spChg chg="mod">
          <ac:chgData name="THERICH Prince" userId="27e7a376b44b4d0d" providerId="LiveId" clId="{5DE29B32-8FAB-43EB-B570-41DA6A41ADDD}" dt="2026-03-22T08:25:55.251" v="2" actId="20577"/>
          <ac:spMkLst>
            <pc:docMk/>
            <pc:sldMk cId="3113318551" sldId="265"/>
            <ac:spMk id="14" creationId="{4A3014B8-FA7B-4F97-839C-DA2ED83BD560}"/>
          </ac:spMkLst>
        </pc:spChg>
      </pc:sldChg>
      <pc:sldChg chg="addSp modSp mod">
        <pc:chgData name="THERICH Prince" userId="27e7a376b44b4d0d" providerId="LiveId" clId="{5DE29B32-8FAB-43EB-B570-41DA6A41ADDD}" dt="2026-03-22T08:28:09.365" v="23" actId="2711"/>
        <pc:sldMkLst>
          <pc:docMk/>
          <pc:sldMk cId="2881846508" sldId="266"/>
        </pc:sldMkLst>
        <pc:spChg chg="add mod">
          <ac:chgData name="THERICH Prince" userId="27e7a376b44b4d0d" providerId="LiveId" clId="{5DE29B32-8FAB-43EB-B570-41DA6A41ADDD}" dt="2026-03-22T08:28:09.365" v="23" actId="2711"/>
          <ac:spMkLst>
            <pc:docMk/>
            <pc:sldMk cId="2881846508" sldId="266"/>
            <ac:spMk id="3" creationId="{EF127604-1FCB-1206-B09A-6D185BCBFD8D}"/>
          </ac:spMkLst>
        </pc:spChg>
        <pc:spChg chg="mod">
          <ac:chgData name="THERICH Prince" userId="27e7a376b44b4d0d" providerId="LiveId" clId="{5DE29B32-8FAB-43EB-B570-41DA6A41ADDD}" dt="2026-03-22T08:27:49.121" v="5" actId="21"/>
          <ac:spMkLst>
            <pc:docMk/>
            <pc:sldMk cId="2881846508" sldId="266"/>
            <ac:spMk id="12" creationId="{656AF5D0-1E3F-9E24-769E-292BC4BEEEF9}"/>
          </ac:spMkLst>
        </pc:spChg>
      </pc:sldChg>
      <pc:sldChg chg="modSp mod">
        <pc:chgData name="THERICH Prince" userId="27e7a376b44b4d0d" providerId="LiveId" clId="{5DE29B32-8FAB-43EB-B570-41DA6A41ADDD}" dt="2026-03-22T08:28:50.800" v="28" actId="207"/>
        <pc:sldMkLst>
          <pc:docMk/>
          <pc:sldMk cId="3367290667" sldId="267"/>
        </pc:sldMkLst>
        <pc:spChg chg="mod">
          <ac:chgData name="THERICH Prince" userId="27e7a376b44b4d0d" providerId="LiveId" clId="{5DE29B32-8FAB-43EB-B570-41DA6A41ADDD}" dt="2026-03-22T08:28:50.800" v="28" actId="207"/>
          <ac:spMkLst>
            <pc:docMk/>
            <pc:sldMk cId="3367290667" sldId="267"/>
            <ac:spMk id="12" creationId="{4E620825-7C63-3354-9C7D-3662A1A5DC02}"/>
          </ac:spMkLst>
        </pc:spChg>
      </pc:sldChg>
      <pc:sldChg chg="addSp modSp mod">
        <pc:chgData name="THERICH Prince" userId="27e7a376b44b4d0d" providerId="LiveId" clId="{5DE29B32-8FAB-43EB-B570-41DA6A41ADDD}" dt="2026-03-22T08:31:26.801" v="70" actId="20577"/>
        <pc:sldMkLst>
          <pc:docMk/>
          <pc:sldMk cId="1611752864" sldId="268"/>
        </pc:sldMkLst>
        <pc:spChg chg="add mod">
          <ac:chgData name="THERICH Prince" userId="27e7a376b44b4d0d" providerId="LiveId" clId="{5DE29B32-8FAB-43EB-B570-41DA6A41ADDD}" dt="2026-03-22T08:30:36.184" v="42" actId="1076"/>
          <ac:spMkLst>
            <pc:docMk/>
            <pc:sldMk cId="1611752864" sldId="268"/>
            <ac:spMk id="3" creationId="{1F431F49-3AA9-232B-6923-32EF9CB161B6}"/>
          </ac:spMkLst>
        </pc:spChg>
        <pc:spChg chg="mod">
          <ac:chgData name="THERICH Prince" userId="27e7a376b44b4d0d" providerId="LiveId" clId="{5DE29B32-8FAB-43EB-B570-41DA6A41ADDD}" dt="2026-03-22T08:31:26.801" v="70" actId="20577"/>
          <ac:spMkLst>
            <pc:docMk/>
            <pc:sldMk cId="1611752864" sldId="268"/>
            <ac:spMk id="12" creationId="{B16D40BD-0802-4EA0-7B56-6B07ED841B9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17A1AF-8CF9-42A9-86BB-0DC5AFD42D29}" type="datetimeFigureOut">
              <a:rPr lang="en-US" smtClean="0"/>
              <a:t>4/30/2026</a:t>
            </a:fld>
            <a:endParaRPr lang="en-US"/>
          </a:p>
        </p:txBody>
      </p:sp>
      <p:sp>
        <p:nvSpPr>
          <p:cNvPr id="4" name="Slide Image Placeholder 3"/>
          <p:cNvSpPr>
            <a:spLocks noGrp="1" noRot="1" noChangeAspect="1"/>
          </p:cNvSpPr>
          <p:nvPr>
            <p:ph type="sldImg" idx="2"/>
          </p:nvPr>
        </p:nvSpPr>
        <p:spPr>
          <a:xfrm>
            <a:off x="1431925" y="1143000"/>
            <a:ext cx="39941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439162-7104-4D17-A364-82D569EE1AFD}" type="slidenum">
              <a:rPr lang="en-US" smtClean="0"/>
              <a:t>‹N°›</a:t>
            </a:fld>
            <a:endParaRPr lang="en-US"/>
          </a:p>
        </p:txBody>
      </p:sp>
    </p:spTree>
    <p:extLst>
      <p:ext uri="{BB962C8B-B14F-4D97-AF65-F5344CB8AC3E}">
        <p14:creationId xmlns:p14="http://schemas.microsoft.com/office/powerpoint/2010/main" val="19890482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439162-7104-4D17-A364-82D569EE1AFD}" type="slidenum">
              <a:rPr lang="en-US" smtClean="0"/>
              <a:t>10</a:t>
            </a:fld>
            <a:endParaRPr lang="en-US"/>
          </a:p>
        </p:txBody>
      </p:sp>
    </p:spTree>
    <p:extLst>
      <p:ext uri="{BB962C8B-B14F-4D97-AF65-F5344CB8AC3E}">
        <p14:creationId xmlns:p14="http://schemas.microsoft.com/office/powerpoint/2010/main" val="35324194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439162-7104-4D17-A364-82D569EE1AFD}" type="slidenum">
              <a:rPr lang="en-US" smtClean="0"/>
              <a:t>12</a:t>
            </a:fld>
            <a:endParaRPr lang="en-US"/>
          </a:p>
        </p:txBody>
      </p:sp>
    </p:spTree>
    <p:extLst>
      <p:ext uri="{BB962C8B-B14F-4D97-AF65-F5344CB8AC3E}">
        <p14:creationId xmlns:p14="http://schemas.microsoft.com/office/powerpoint/2010/main" val="3348276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60E7A2A-60E9-8F44-96B5-608AFD999723}"/>
              </a:ext>
            </a:extLst>
          </p:cNvPr>
          <p:cNvSpPr>
            <a:spLocks noGrp="1"/>
          </p:cNvSpPr>
          <p:nvPr>
            <p:ph type="title" hasCustomPrompt="1"/>
          </p:nvPr>
        </p:nvSpPr>
        <p:spPr>
          <a:xfrm>
            <a:off x="1081572" y="1650360"/>
            <a:ext cx="7893986" cy="595315"/>
          </a:xfrm>
        </p:spPr>
        <p:txBody>
          <a:bodyPr>
            <a:noAutofit/>
          </a:bodyPr>
          <a:lstStyle>
            <a:lvl1pPr algn="ctr">
              <a:defRPr sz="3200" b="0" i="0" cap="all" spc="300" baseline="0">
                <a:solidFill>
                  <a:schemeClr val="accent3">
                    <a:lumMod val="50000"/>
                  </a:schemeClr>
                </a:solidFill>
                <a:latin typeface="+mn-lt"/>
              </a:defRPr>
            </a:lvl1pPr>
          </a:lstStyle>
          <a:p>
            <a:r>
              <a:rPr lang="en-US" dirty="0"/>
              <a:t>CLICK TO ADD TITLE</a:t>
            </a:r>
          </a:p>
        </p:txBody>
      </p:sp>
      <p:sp>
        <p:nvSpPr>
          <p:cNvPr id="5" name="Picture Placeholder 4">
            <a:extLst>
              <a:ext uri="{FF2B5EF4-FFF2-40B4-BE49-F238E27FC236}">
                <a16:creationId xmlns:a16="http://schemas.microsoft.com/office/drawing/2014/main" id="{A16DCB97-039D-45EB-9AFE-45A04462526B}"/>
              </a:ext>
            </a:extLst>
          </p:cNvPr>
          <p:cNvSpPr>
            <a:spLocks noGrp="1" noChangeAspect="1"/>
          </p:cNvSpPr>
          <p:nvPr>
            <p:ph type="pic" sz="quarter" idx="17" hasCustomPrompt="1"/>
          </p:nvPr>
        </p:nvSpPr>
        <p:spPr>
          <a:xfrm>
            <a:off x="3931920" y="336933"/>
            <a:ext cx="2194560" cy="1166588"/>
          </a:xfrm>
        </p:spPr>
        <p:txBody>
          <a:bodyPr anchor="ctr">
            <a:normAutofit/>
          </a:bodyPr>
          <a:lstStyle>
            <a:lvl1pPr marL="0" indent="0" algn="ctr">
              <a:buNone/>
              <a:defRPr sz="1600"/>
            </a:lvl1pPr>
          </a:lstStyle>
          <a:p>
            <a:r>
              <a:rPr lang="en-US" dirty="0"/>
              <a:t>Click to add logo</a:t>
            </a:r>
          </a:p>
        </p:txBody>
      </p:sp>
      <p:sp>
        <p:nvSpPr>
          <p:cNvPr id="13" name="Text Placeholder 12">
            <a:extLst>
              <a:ext uri="{FF2B5EF4-FFF2-40B4-BE49-F238E27FC236}">
                <a16:creationId xmlns:a16="http://schemas.microsoft.com/office/drawing/2014/main" id="{6098CB78-AC04-D042-99AD-C2F1E4750D17}"/>
              </a:ext>
            </a:extLst>
          </p:cNvPr>
          <p:cNvSpPr>
            <a:spLocks noGrp="1"/>
          </p:cNvSpPr>
          <p:nvPr>
            <p:ph type="body" sz="quarter" idx="10" hasCustomPrompt="1"/>
          </p:nvPr>
        </p:nvSpPr>
        <p:spPr>
          <a:xfrm>
            <a:off x="1280160" y="2867026"/>
            <a:ext cx="7498080" cy="417743"/>
          </a:xfrm>
        </p:spPr>
        <p:txBody>
          <a:bodyPr>
            <a:normAutofit/>
          </a:bodyPr>
          <a:lstStyle>
            <a:lvl1pPr marL="0" indent="0" algn="ctr">
              <a:buNone/>
              <a:defRPr sz="1800" b="0" i="0" cap="all" baseline="0">
                <a:solidFill>
                  <a:schemeClr val="accent3">
                    <a:lumMod val="50000"/>
                  </a:schemeClr>
                </a:solidFill>
                <a:latin typeface="+mn-lt"/>
              </a:defRPr>
            </a:lvl1pPr>
            <a:lvl2pPr>
              <a:defRPr sz="2400"/>
            </a:lvl2pPr>
            <a:lvl3pPr>
              <a:defRPr sz="2000"/>
            </a:lvl3pPr>
            <a:lvl4pPr>
              <a:defRPr sz="1800"/>
            </a:lvl4pPr>
            <a:lvl5pPr>
              <a:defRPr sz="1800"/>
            </a:lvl5pPr>
          </a:lstStyle>
          <a:p>
            <a:pPr lvl="0"/>
            <a:r>
              <a:rPr lang="en-US" dirty="0"/>
              <a:t>CLICK TO ADD TEXT</a:t>
            </a:r>
          </a:p>
        </p:txBody>
      </p:sp>
      <p:sp>
        <p:nvSpPr>
          <p:cNvPr id="15" name="Text Placeholder 14">
            <a:extLst>
              <a:ext uri="{FF2B5EF4-FFF2-40B4-BE49-F238E27FC236}">
                <a16:creationId xmlns:a16="http://schemas.microsoft.com/office/drawing/2014/main" id="{6B59FE82-774C-BB4A-A05E-24C963164AE4}"/>
              </a:ext>
            </a:extLst>
          </p:cNvPr>
          <p:cNvSpPr>
            <a:spLocks noGrp="1"/>
          </p:cNvSpPr>
          <p:nvPr>
            <p:ph type="body" sz="quarter" idx="11" hasCustomPrompt="1"/>
          </p:nvPr>
        </p:nvSpPr>
        <p:spPr>
          <a:xfrm>
            <a:off x="692150" y="3284769"/>
            <a:ext cx="8674100" cy="1118504"/>
          </a:xfrm>
        </p:spPr>
        <p:txBody>
          <a:bodyPr anchor="ctr">
            <a:normAutofit/>
          </a:bodyPr>
          <a:lstStyle>
            <a:lvl1pPr marL="0" indent="0" algn="ctr">
              <a:buNone/>
              <a:defRPr sz="5400" b="1" i="0" cap="all" spc="300" baseline="0">
                <a:solidFill>
                  <a:schemeClr val="accent3">
                    <a:lumMod val="50000"/>
                  </a:schemeClr>
                </a:solidFill>
                <a:latin typeface="+mj-lt"/>
              </a:defRPr>
            </a:lvl1pPr>
            <a:lvl2pPr marL="502920" indent="0">
              <a:buNone/>
              <a:defRPr/>
            </a:lvl2pPr>
            <a:lvl3pPr marL="1005840" indent="0">
              <a:buNone/>
              <a:defRPr/>
            </a:lvl3pPr>
            <a:lvl4pPr marL="1508760" indent="0">
              <a:buNone/>
              <a:defRPr/>
            </a:lvl4pPr>
            <a:lvl5pPr marL="2011680" indent="0">
              <a:buNone/>
              <a:defRPr/>
            </a:lvl5pPr>
          </a:lstStyle>
          <a:p>
            <a:pPr lvl="0"/>
            <a:r>
              <a:rPr lang="en-US" dirty="0"/>
              <a:t>CLICK TO ADD NAME</a:t>
            </a:r>
          </a:p>
        </p:txBody>
      </p:sp>
      <p:sp>
        <p:nvSpPr>
          <p:cNvPr id="16" name="Text Placeholder 12">
            <a:extLst>
              <a:ext uri="{FF2B5EF4-FFF2-40B4-BE49-F238E27FC236}">
                <a16:creationId xmlns:a16="http://schemas.microsoft.com/office/drawing/2014/main" id="{931E6A6E-1BA7-1F45-A08D-307AACEBEB35}"/>
              </a:ext>
            </a:extLst>
          </p:cNvPr>
          <p:cNvSpPr>
            <a:spLocks noGrp="1"/>
          </p:cNvSpPr>
          <p:nvPr>
            <p:ph type="body" sz="quarter" idx="12" hasCustomPrompt="1"/>
          </p:nvPr>
        </p:nvSpPr>
        <p:spPr>
          <a:xfrm>
            <a:off x="692150" y="4416874"/>
            <a:ext cx="8672830" cy="522968"/>
          </a:xfrm>
        </p:spPr>
        <p:txBody>
          <a:bodyPr>
            <a:normAutofit/>
          </a:bodyPr>
          <a:lstStyle>
            <a:lvl1pPr marL="0" indent="0" algn="ctr">
              <a:buNone/>
              <a:defRPr sz="1800" b="0" i="0">
                <a:solidFill>
                  <a:schemeClr val="accent3">
                    <a:lumMod val="50000"/>
                  </a:schemeClr>
                </a:solidFill>
                <a:latin typeface="+mn-lt"/>
              </a:defRPr>
            </a:lvl1pPr>
            <a:lvl2pPr>
              <a:defRPr sz="2400"/>
            </a:lvl2pPr>
            <a:lvl3pPr>
              <a:defRPr sz="2000"/>
            </a:lvl3pPr>
            <a:lvl4pPr>
              <a:defRPr sz="1800"/>
            </a:lvl4pPr>
            <a:lvl5pPr>
              <a:defRPr sz="1800"/>
            </a:lvl5pPr>
          </a:lstStyle>
          <a:p>
            <a:pPr lvl="0"/>
            <a:r>
              <a:rPr lang="en-US" dirty="0"/>
              <a:t>CLICK TO ADD TEXT</a:t>
            </a:r>
          </a:p>
        </p:txBody>
      </p:sp>
      <p:grpSp>
        <p:nvGrpSpPr>
          <p:cNvPr id="22" name="Group 21">
            <a:extLst>
              <a:ext uri="{FF2B5EF4-FFF2-40B4-BE49-F238E27FC236}">
                <a16:creationId xmlns:a16="http://schemas.microsoft.com/office/drawing/2014/main" id="{3049D150-13BC-384D-BEE8-E9527DB6057F}"/>
              </a:ext>
              <a:ext uri="{C183D7F6-B498-43B3-948B-1728B52AA6E4}">
                <adec:decorative xmlns:adec="http://schemas.microsoft.com/office/drawing/2017/decorative" val="1"/>
              </a:ext>
            </a:extLst>
          </p:cNvPr>
          <p:cNvGrpSpPr/>
          <p:nvPr userDrawn="1"/>
        </p:nvGrpSpPr>
        <p:grpSpPr>
          <a:xfrm>
            <a:off x="1734457" y="6371779"/>
            <a:ext cx="6589486" cy="0"/>
            <a:chOff x="1872342" y="5979886"/>
            <a:chExt cx="6589486" cy="0"/>
          </a:xfrm>
        </p:grpSpPr>
        <p:cxnSp>
          <p:nvCxnSpPr>
            <p:cNvPr id="18" name="Straight Connector 17">
              <a:extLst>
                <a:ext uri="{FF2B5EF4-FFF2-40B4-BE49-F238E27FC236}">
                  <a16:creationId xmlns:a16="http://schemas.microsoft.com/office/drawing/2014/main" id="{08158FB6-64E7-264E-BD07-114D31C9718A}"/>
                </a:ext>
              </a:extLst>
            </p:cNvPr>
            <p:cNvCxnSpPr>
              <a:cxnSpLocks/>
            </p:cNvCxnSpPr>
            <p:nvPr userDrawn="1"/>
          </p:nvCxnSpPr>
          <p:spPr>
            <a:xfrm>
              <a:off x="1872342" y="5979886"/>
              <a:ext cx="27432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503DA16-86E8-5840-BA1E-44CC83BAF500}"/>
                </a:ext>
              </a:extLst>
            </p:cNvPr>
            <p:cNvCxnSpPr>
              <a:cxnSpLocks/>
            </p:cNvCxnSpPr>
            <p:nvPr userDrawn="1"/>
          </p:nvCxnSpPr>
          <p:spPr>
            <a:xfrm>
              <a:off x="5718628" y="5979886"/>
              <a:ext cx="27432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 name="Picture Placeholder 2">
            <a:extLst>
              <a:ext uri="{FF2B5EF4-FFF2-40B4-BE49-F238E27FC236}">
                <a16:creationId xmlns:a16="http://schemas.microsoft.com/office/drawing/2014/main" id="{FAE40ACD-F327-4FBC-9676-321EAC6036BB}"/>
              </a:ext>
            </a:extLst>
          </p:cNvPr>
          <p:cNvSpPr>
            <a:spLocks noGrp="1"/>
          </p:cNvSpPr>
          <p:nvPr>
            <p:ph type="pic" sz="quarter" idx="16" hasCustomPrompt="1"/>
          </p:nvPr>
        </p:nvSpPr>
        <p:spPr>
          <a:xfrm>
            <a:off x="2058988" y="5930096"/>
            <a:ext cx="2082800" cy="650092"/>
          </a:xfrm>
        </p:spPr>
        <p:txBody>
          <a:bodyPr anchor="ctr">
            <a:normAutofit/>
          </a:bodyPr>
          <a:lstStyle>
            <a:lvl1pPr marL="0" indent="0" algn="ctr">
              <a:buNone/>
              <a:defRPr sz="1400">
                <a:latin typeface="+mn-lt"/>
              </a:defRPr>
            </a:lvl1pPr>
          </a:lstStyle>
          <a:p>
            <a:r>
              <a:rPr lang="en-US" dirty="0"/>
              <a:t>Click to add picture</a:t>
            </a:r>
          </a:p>
        </p:txBody>
      </p:sp>
      <p:sp>
        <p:nvSpPr>
          <p:cNvPr id="24" name="Text Placeholder 23">
            <a:extLst>
              <a:ext uri="{FF2B5EF4-FFF2-40B4-BE49-F238E27FC236}">
                <a16:creationId xmlns:a16="http://schemas.microsoft.com/office/drawing/2014/main" id="{D283EC73-AB32-5D48-A0E4-F1D99FE00B45}"/>
              </a:ext>
            </a:extLst>
          </p:cNvPr>
          <p:cNvSpPr>
            <a:spLocks noGrp="1"/>
          </p:cNvSpPr>
          <p:nvPr>
            <p:ph type="body" sz="quarter" idx="13" hasCustomPrompt="1"/>
          </p:nvPr>
        </p:nvSpPr>
        <p:spPr>
          <a:xfrm>
            <a:off x="1633540" y="6480520"/>
            <a:ext cx="3127375" cy="428061"/>
          </a:xfrm>
        </p:spPr>
        <p:txBody>
          <a:bodyPr>
            <a:noAutofit/>
          </a:bodyPr>
          <a:lstStyle>
            <a:lvl1pPr marL="0" indent="0">
              <a:buNone/>
              <a:defRPr sz="1400" b="0" i="0">
                <a:solidFill>
                  <a:schemeClr val="bg1">
                    <a:lumMod val="50000"/>
                  </a:schemeClr>
                </a:solidFill>
                <a:latin typeface="+mn-lt"/>
              </a:defRPr>
            </a:lvl1pPr>
            <a:lvl2pPr marL="502920" indent="0">
              <a:buNone/>
              <a:defRPr b="0" i="0">
                <a:latin typeface="Century Gothic" panose="020B0502020202020204" pitchFamily="34" charset="0"/>
              </a:defRPr>
            </a:lvl2pPr>
            <a:lvl3pPr marL="1005840" indent="0">
              <a:buNone/>
              <a:defRPr b="0" i="0">
                <a:latin typeface="Century Gothic" panose="020B0502020202020204" pitchFamily="34" charset="0"/>
              </a:defRPr>
            </a:lvl3pPr>
            <a:lvl4pPr marL="1508760" indent="0">
              <a:buNone/>
              <a:defRPr b="0" i="0">
                <a:latin typeface="Century Gothic" panose="020B0502020202020204" pitchFamily="34" charset="0"/>
              </a:defRPr>
            </a:lvl4pPr>
            <a:lvl5pPr marL="2011680" indent="0">
              <a:buNone/>
              <a:defRPr b="0" i="0">
                <a:latin typeface="Century Gothic" panose="020B0502020202020204" pitchFamily="34" charset="0"/>
              </a:defRPr>
            </a:lvl5pPr>
          </a:lstStyle>
          <a:p>
            <a:pPr lvl="0"/>
            <a:r>
              <a:rPr lang="en-US" dirty="0"/>
              <a:t>Click to add text</a:t>
            </a:r>
          </a:p>
        </p:txBody>
      </p:sp>
      <p:sp>
        <p:nvSpPr>
          <p:cNvPr id="26" name="Text Placeholder 23">
            <a:extLst>
              <a:ext uri="{FF2B5EF4-FFF2-40B4-BE49-F238E27FC236}">
                <a16:creationId xmlns:a16="http://schemas.microsoft.com/office/drawing/2014/main" id="{1992CD75-2B6A-794B-BA19-6C895CC5067C}"/>
              </a:ext>
            </a:extLst>
          </p:cNvPr>
          <p:cNvSpPr>
            <a:spLocks noGrp="1"/>
          </p:cNvSpPr>
          <p:nvPr>
            <p:ph type="body" sz="quarter" idx="15" hasCustomPrompt="1"/>
          </p:nvPr>
        </p:nvSpPr>
        <p:spPr>
          <a:xfrm>
            <a:off x="5494340" y="5894731"/>
            <a:ext cx="3127375" cy="428061"/>
          </a:xfrm>
        </p:spPr>
        <p:txBody>
          <a:bodyPr anchor="b">
            <a:noAutofit/>
          </a:bodyPr>
          <a:lstStyle>
            <a:lvl1pPr marL="0" indent="0">
              <a:buNone/>
              <a:defRPr sz="1600" b="0" i="0">
                <a:solidFill>
                  <a:schemeClr val="accent3">
                    <a:lumMod val="50000"/>
                  </a:schemeClr>
                </a:solidFill>
                <a:latin typeface="+mn-lt"/>
              </a:defRPr>
            </a:lvl1pPr>
            <a:lvl2pPr marL="502920" indent="0">
              <a:buNone/>
              <a:defRPr b="0" i="0">
                <a:latin typeface="Century Gothic" panose="020B0502020202020204" pitchFamily="34" charset="0"/>
              </a:defRPr>
            </a:lvl2pPr>
            <a:lvl3pPr marL="1005840" indent="0">
              <a:buNone/>
              <a:defRPr b="0" i="0">
                <a:latin typeface="Century Gothic" panose="020B0502020202020204" pitchFamily="34" charset="0"/>
              </a:defRPr>
            </a:lvl3pPr>
            <a:lvl4pPr marL="1508760" indent="0">
              <a:buNone/>
              <a:defRPr b="0" i="0">
                <a:latin typeface="Century Gothic" panose="020B0502020202020204" pitchFamily="34" charset="0"/>
              </a:defRPr>
            </a:lvl4pPr>
            <a:lvl5pPr marL="2011680" indent="0">
              <a:buNone/>
              <a:defRPr b="0" i="0">
                <a:latin typeface="Century Gothic" panose="020B0502020202020204" pitchFamily="34" charset="0"/>
              </a:defRPr>
            </a:lvl5pPr>
          </a:lstStyle>
          <a:p>
            <a:pPr lvl="0"/>
            <a:r>
              <a:rPr lang="en-US" dirty="0"/>
              <a:t>Click to add text</a:t>
            </a:r>
          </a:p>
        </p:txBody>
      </p:sp>
      <p:sp>
        <p:nvSpPr>
          <p:cNvPr id="25" name="Text Placeholder 23">
            <a:extLst>
              <a:ext uri="{FF2B5EF4-FFF2-40B4-BE49-F238E27FC236}">
                <a16:creationId xmlns:a16="http://schemas.microsoft.com/office/drawing/2014/main" id="{862A197F-3655-7548-A845-8B9429889BFC}"/>
              </a:ext>
            </a:extLst>
          </p:cNvPr>
          <p:cNvSpPr>
            <a:spLocks noGrp="1"/>
          </p:cNvSpPr>
          <p:nvPr>
            <p:ph type="body" sz="quarter" idx="14" hasCustomPrompt="1"/>
          </p:nvPr>
        </p:nvSpPr>
        <p:spPr>
          <a:xfrm>
            <a:off x="5494340" y="6480520"/>
            <a:ext cx="3127375" cy="428061"/>
          </a:xfrm>
        </p:spPr>
        <p:txBody>
          <a:bodyPr>
            <a:noAutofit/>
          </a:bodyPr>
          <a:lstStyle>
            <a:lvl1pPr marL="0" indent="0">
              <a:buNone/>
              <a:defRPr sz="1400" b="0" i="0">
                <a:solidFill>
                  <a:schemeClr val="bg1">
                    <a:lumMod val="50000"/>
                  </a:schemeClr>
                </a:solidFill>
                <a:latin typeface="+mn-lt"/>
              </a:defRPr>
            </a:lvl1pPr>
            <a:lvl2pPr marL="502920" indent="0">
              <a:buNone/>
              <a:defRPr b="0" i="0">
                <a:latin typeface="Century Gothic" panose="020B0502020202020204" pitchFamily="34" charset="0"/>
              </a:defRPr>
            </a:lvl2pPr>
            <a:lvl3pPr marL="1005840" indent="0">
              <a:buNone/>
              <a:defRPr b="0" i="0">
                <a:latin typeface="Century Gothic" panose="020B0502020202020204" pitchFamily="34" charset="0"/>
              </a:defRPr>
            </a:lvl3pPr>
            <a:lvl4pPr marL="1508760" indent="0">
              <a:buNone/>
              <a:defRPr b="0" i="0">
                <a:latin typeface="Century Gothic" panose="020B0502020202020204" pitchFamily="34" charset="0"/>
              </a:defRPr>
            </a:lvl4pPr>
            <a:lvl5pPr marL="2011680" indent="0">
              <a:buNone/>
              <a:defRPr b="0" i="0">
                <a:latin typeface="Century Gothic" panose="020B0502020202020204" pitchFamily="34" charset="0"/>
              </a:defRPr>
            </a:lvl5pPr>
          </a:lstStyle>
          <a:p>
            <a:pPr lvl="0"/>
            <a:r>
              <a:rPr lang="en-US" dirty="0"/>
              <a:t>Click to add text</a:t>
            </a:r>
          </a:p>
        </p:txBody>
      </p:sp>
      <p:sp>
        <p:nvSpPr>
          <p:cNvPr id="75" name="Freeform: Shape 74">
            <a:extLst>
              <a:ext uri="{FF2B5EF4-FFF2-40B4-BE49-F238E27FC236}">
                <a16:creationId xmlns:a16="http://schemas.microsoft.com/office/drawing/2014/main" id="{1587341E-2CFD-4F74-AC40-C4A20C752A8B}"/>
              </a:ext>
            </a:extLst>
          </p:cNvPr>
          <p:cNvSpPr/>
          <p:nvPr userDrawn="1"/>
        </p:nvSpPr>
        <p:spPr>
          <a:xfrm>
            <a:off x="0" y="0"/>
            <a:ext cx="1132368" cy="4316413"/>
          </a:xfrm>
          <a:custGeom>
            <a:avLst/>
            <a:gdLst>
              <a:gd name="connsiteX0" fmla="*/ 398838 w 1132368"/>
              <a:gd name="connsiteY0" fmla="*/ 3208859 h 4316413"/>
              <a:gd name="connsiteX1" fmla="*/ 393521 w 1132368"/>
              <a:gd name="connsiteY1" fmla="*/ 4141294 h 4316413"/>
              <a:gd name="connsiteX2" fmla="*/ 0 w 1132368"/>
              <a:gd name="connsiteY2" fmla="*/ 4316413 h 4316413"/>
              <a:gd name="connsiteX3" fmla="*/ 0 w 1132368"/>
              <a:gd name="connsiteY3" fmla="*/ 3399636 h 4316413"/>
              <a:gd name="connsiteX4" fmla="*/ 1 w 1132368"/>
              <a:gd name="connsiteY4" fmla="*/ 1079843 h 4316413"/>
              <a:gd name="connsiteX5" fmla="*/ 400769 w 1132368"/>
              <a:gd name="connsiteY5" fmla="*/ 1271543 h 4316413"/>
              <a:gd name="connsiteX6" fmla="*/ 399484 w 1132368"/>
              <a:gd name="connsiteY6" fmla="*/ 2178126 h 4316413"/>
              <a:gd name="connsiteX7" fmla="*/ 1 w 1132368"/>
              <a:gd name="connsiteY7" fmla="*/ 1989572 h 4316413"/>
              <a:gd name="connsiteX8" fmla="*/ 445596 w 1132368"/>
              <a:gd name="connsiteY8" fmla="*/ 0 h 4316413"/>
              <a:gd name="connsiteX9" fmla="*/ 1127336 w 1132368"/>
              <a:gd name="connsiteY9" fmla="*/ 0 h 4316413"/>
              <a:gd name="connsiteX10" fmla="*/ 1132368 w 1132368"/>
              <a:gd name="connsiteY10" fmla="*/ 882442 h 4316413"/>
              <a:gd name="connsiteX11" fmla="*/ 444811 w 1132368"/>
              <a:gd name="connsiteY11" fmla="*/ 553562 h 4316413"/>
              <a:gd name="connsiteX12" fmla="*/ 445454 w 1132368"/>
              <a:gd name="connsiteY12" fmla="*/ 100271 h 4316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32368" h="4316413">
                <a:moveTo>
                  <a:pt x="398838" y="3208859"/>
                </a:moveTo>
                <a:cubicBezTo>
                  <a:pt x="397066" y="3519671"/>
                  <a:pt x="395293" y="3830482"/>
                  <a:pt x="393521" y="4141294"/>
                </a:cubicBezTo>
                <a:lnTo>
                  <a:pt x="0" y="4316413"/>
                </a:lnTo>
                <a:lnTo>
                  <a:pt x="0" y="3399636"/>
                </a:lnTo>
                <a:close/>
                <a:moveTo>
                  <a:pt x="1" y="1079843"/>
                </a:moveTo>
                <a:lnTo>
                  <a:pt x="400769" y="1271543"/>
                </a:lnTo>
                <a:cubicBezTo>
                  <a:pt x="402541" y="1577038"/>
                  <a:pt x="397712" y="1872631"/>
                  <a:pt x="399484" y="2178126"/>
                </a:cubicBezTo>
                <a:lnTo>
                  <a:pt x="1" y="1989572"/>
                </a:lnTo>
                <a:close/>
                <a:moveTo>
                  <a:pt x="445596" y="0"/>
                </a:moveTo>
                <a:lnTo>
                  <a:pt x="1127336" y="0"/>
                </a:lnTo>
                <a:lnTo>
                  <a:pt x="1132368" y="882442"/>
                </a:lnTo>
                <a:lnTo>
                  <a:pt x="444811" y="553562"/>
                </a:lnTo>
                <a:cubicBezTo>
                  <a:pt x="443925" y="400815"/>
                  <a:pt x="444689" y="250543"/>
                  <a:pt x="445454" y="100271"/>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8" name="Freeform: Shape 67">
            <a:extLst>
              <a:ext uri="{FF2B5EF4-FFF2-40B4-BE49-F238E27FC236}">
                <a16:creationId xmlns:a16="http://schemas.microsoft.com/office/drawing/2014/main" id="{0AA59FD3-0D46-4F08-830E-C16BDBD9AAEC}"/>
              </a:ext>
            </a:extLst>
          </p:cNvPr>
          <p:cNvSpPr/>
          <p:nvPr userDrawn="1"/>
        </p:nvSpPr>
        <p:spPr>
          <a:xfrm flipH="1" flipV="1">
            <a:off x="1" y="0"/>
            <a:ext cx="1132367" cy="3132720"/>
          </a:xfrm>
          <a:custGeom>
            <a:avLst/>
            <a:gdLst>
              <a:gd name="connsiteX0" fmla="*/ 1132367 w 1132367"/>
              <a:gd name="connsiteY0" fmla="*/ 1098283 h 3132720"/>
              <a:gd name="connsiteX1" fmla="*/ 731599 w 1132367"/>
              <a:gd name="connsiteY1" fmla="*/ 906583 h 3132720"/>
              <a:gd name="connsiteX2" fmla="*/ 732884 w 1132367"/>
              <a:gd name="connsiteY2" fmla="*/ 0 h 3132720"/>
              <a:gd name="connsiteX3" fmla="*/ 1132367 w 1132367"/>
              <a:gd name="connsiteY3" fmla="*/ 185859 h 3132720"/>
              <a:gd name="connsiteX4" fmla="*/ 0 w 1132367"/>
              <a:gd name="connsiteY4" fmla="*/ 2190057 h 3132720"/>
              <a:gd name="connsiteX5" fmla="*/ 5317 w 1132367"/>
              <a:gd name="connsiteY5" fmla="*/ 1276002 h 3132720"/>
              <a:gd name="connsiteX6" fmla="*/ 686272 w 1132367"/>
              <a:gd name="connsiteY6" fmla="*/ 954594 h 3132720"/>
              <a:gd name="connsiteX7" fmla="*/ 687557 w 1132367"/>
              <a:gd name="connsiteY7" fmla="*/ 1861177 h 3132720"/>
              <a:gd name="connsiteX8" fmla="*/ 1132367 w 1132367"/>
              <a:gd name="connsiteY8" fmla="*/ 3132720 h 3132720"/>
              <a:gd name="connsiteX9" fmla="*/ 732384 w 1132367"/>
              <a:gd name="connsiteY9" fmla="*/ 3132720 h 3132720"/>
              <a:gd name="connsiteX10" fmla="*/ 732241 w 1132367"/>
              <a:gd name="connsiteY10" fmla="*/ 3032449 h 3132720"/>
              <a:gd name="connsiteX11" fmla="*/ 731599 w 1132367"/>
              <a:gd name="connsiteY11" fmla="*/ 2579158 h 3132720"/>
              <a:gd name="connsiteX12" fmla="*/ 1132367 w 1132367"/>
              <a:gd name="connsiteY12" fmla="*/ 2387458 h 3132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32367" h="3132720">
                <a:moveTo>
                  <a:pt x="1132367" y="1098283"/>
                </a:moveTo>
                <a:lnTo>
                  <a:pt x="731599" y="906583"/>
                </a:lnTo>
                <a:cubicBezTo>
                  <a:pt x="729827" y="601088"/>
                  <a:pt x="734656" y="305495"/>
                  <a:pt x="732884" y="0"/>
                </a:cubicBezTo>
                <a:lnTo>
                  <a:pt x="1132367" y="185859"/>
                </a:lnTo>
                <a:close/>
                <a:moveTo>
                  <a:pt x="0" y="2190057"/>
                </a:moveTo>
                <a:cubicBezTo>
                  <a:pt x="1772" y="1879245"/>
                  <a:pt x="3545" y="1586814"/>
                  <a:pt x="5317" y="1276002"/>
                </a:cubicBezTo>
                <a:lnTo>
                  <a:pt x="686272" y="954594"/>
                </a:lnTo>
                <a:cubicBezTo>
                  <a:pt x="684500" y="1260089"/>
                  <a:pt x="689329" y="1555682"/>
                  <a:pt x="687557" y="1861177"/>
                </a:cubicBezTo>
                <a:close/>
                <a:moveTo>
                  <a:pt x="1132367" y="3132720"/>
                </a:moveTo>
                <a:lnTo>
                  <a:pt x="732384" y="3132720"/>
                </a:lnTo>
                <a:lnTo>
                  <a:pt x="732241" y="3032449"/>
                </a:lnTo>
                <a:cubicBezTo>
                  <a:pt x="731477" y="2882177"/>
                  <a:pt x="730713" y="2731905"/>
                  <a:pt x="731599" y="2579158"/>
                </a:cubicBezTo>
                <a:lnTo>
                  <a:pt x="1132367" y="2387458"/>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3" name="Freeform: Shape 62">
            <a:extLst>
              <a:ext uri="{FF2B5EF4-FFF2-40B4-BE49-F238E27FC236}">
                <a16:creationId xmlns:a16="http://schemas.microsoft.com/office/drawing/2014/main" id="{0FC120E8-CA84-4F1E-9E32-B3381014668E}"/>
              </a:ext>
            </a:extLst>
          </p:cNvPr>
          <p:cNvSpPr/>
          <p:nvPr userDrawn="1"/>
        </p:nvSpPr>
        <p:spPr>
          <a:xfrm>
            <a:off x="0" y="0"/>
            <a:ext cx="1859557" cy="3353963"/>
          </a:xfrm>
          <a:custGeom>
            <a:avLst/>
            <a:gdLst>
              <a:gd name="connsiteX0" fmla="*/ 0 w 1859557"/>
              <a:gd name="connsiteY0" fmla="*/ 2993201 h 3353963"/>
              <a:gd name="connsiteX1" fmla="*/ 375832 w 1859557"/>
              <a:gd name="connsiteY1" fmla="*/ 3171690 h 3353963"/>
              <a:gd name="connsiteX2" fmla="*/ 0 w 1859557"/>
              <a:gd name="connsiteY2" fmla="*/ 3353963 h 3353963"/>
              <a:gd name="connsiteX3" fmla="*/ 1132368 w 1859557"/>
              <a:gd name="connsiteY3" fmla="*/ 1897257 h 3353963"/>
              <a:gd name="connsiteX4" fmla="*/ 1127051 w 1859557"/>
              <a:gd name="connsiteY4" fmla="*/ 2829692 h 3353963"/>
              <a:gd name="connsiteX5" fmla="*/ 446096 w 1859557"/>
              <a:gd name="connsiteY5" fmla="*/ 3132720 h 3353963"/>
              <a:gd name="connsiteX6" fmla="*/ 444811 w 1859557"/>
              <a:gd name="connsiteY6" fmla="*/ 2226137 h 3353963"/>
              <a:gd name="connsiteX7" fmla="*/ 1174052 w 1859557"/>
              <a:gd name="connsiteY7" fmla="*/ 0 h 3353963"/>
              <a:gd name="connsiteX8" fmla="*/ 1859557 w 1859557"/>
              <a:gd name="connsiteY8" fmla="*/ 0 h 3353963"/>
              <a:gd name="connsiteX9" fmla="*/ 1856257 w 1859557"/>
              <a:gd name="connsiteY9" fmla="*/ 578734 h 3353963"/>
              <a:gd name="connsiteX10" fmla="*/ 1175302 w 1859557"/>
              <a:gd name="connsiteY10" fmla="*/ 881762 h 3353963"/>
              <a:gd name="connsiteX11" fmla="*/ 1174660 w 1859557"/>
              <a:gd name="connsiteY11" fmla="*/ 428471 h 3353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59557" h="3353963">
                <a:moveTo>
                  <a:pt x="0" y="2993201"/>
                </a:moveTo>
                <a:lnTo>
                  <a:pt x="375832" y="3171690"/>
                </a:lnTo>
                <a:lnTo>
                  <a:pt x="0" y="3353963"/>
                </a:lnTo>
                <a:close/>
                <a:moveTo>
                  <a:pt x="1132368" y="1897257"/>
                </a:moveTo>
                <a:cubicBezTo>
                  <a:pt x="1130596" y="2208069"/>
                  <a:pt x="1128823" y="2518880"/>
                  <a:pt x="1127051" y="2829692"/>
                </a:cubicBezTo>
                <a:lnTo>
                  <a:pt x="446096" y="3132720"/>
                </a:lnTo>
                <a:cubicBezTo>
                  <a:pt x="447868" y="2827225"/>
                  <a:pt x="443039" y="2531632"/>
                  <a:pt x="444811" y="2226137"/>
                </a:cubicBezTo>
                <a:close/>
                <a:moveTo>
                  <a:pt x="1174052" y="0"/>
                </a:moveTo>
                <a:lnTo>
                  <a:pt x="1859557" y="0"/>
                </a:lnTo>
                <a:lnTo>
                  <a:pt x="1856257" y="578734"/>
                </a:lnTo>
                <a:lnTo>
                  <a:pt x="1175302" y="881762"/>
                </a:lnTo>
                <a:cubicBezTo>
                  <a:pt x="1176188" y="729015"/>
                  <a:pt x="1175424" y="578743"/>
                  <a:pt x="1174660" y="428471"/>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34" name="Group 33">
            <a:extLst>
              <a:ext uri="{FF2B5EF4-FFF2-40B4-BE49-F238E27FC236}">
                <a16:creationId xmlns:a16="http://schemas.microsoft.com/office/drawing/2014/main" id="{8CA41D4A-0E6E-4A1D-9985-276D7AB03A28}"/>
              </a:ext>
            </a:extLst>
          </p:cNvPr>
          <p:cNvGrpSpPr/>
          <p:nvPr userDrawn="1"/>
        </p:nvGrpSpPr>
        <p:grpSpPr>
          <a:xfrm>
            <a:off x="0" y="591137"/>
            <a:ext cx="1093146" cy="647353"/>
            <a:chOff x="0" y="591137"/>
            <a:chExt cx="1093146" cy="647353"/>
          </a:xfrm>
        </p:grpSpPr>
        <p:cxnSp>
          <p:nvCxnSpPr>
            <p:cNvPr id="35" name="Straight Connector 34">
              <a:extLst>
                <a:ext uri="{FF2B5EF4-FFF2-40B4-BE49-F238E27FC236}">
                  <a16:creationId xmlns:a16="http://schemas.microsoft.com/office/drawing/2014/main" id="{12B11EA2-6FCB-4470-855B-BE554614C28E}"/>
                </a:ext>
              </a:extLst>
            </p:cNvPr>
            <p:cNvCxnSpPr/>
            <p:nvPr userDrawn="1"/>
          </p:nvCxnSpPr>
          <p:spPr>
            <a:xfrm flipH="1">
              <a:off x="410412" y="905590"/>
              <a:ext cx="682734" cy="332900"/>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36" name="Straight Connector 35">
              <a:extLst>
                <a:ext uri="{FF2B5EF4-FFF2-40B4-BE49-F238E27FC236}">
                  <a16:creationId xmlns:a16="http://schemas.microsoft.com/office/drawing/2014/main" id="{E395EA85-E3FB-4566-B94A-345DDEECF518}"/>
                </a:ext>
              </a:extLst>
            </p:cNvPr>
            <p:cNvCxnSpPr/>
            <p:nvPr userDrawn="1"/>
          </p:nvCxnSpPr>
          <p:spPr>
            <a:xfrm flipH="1">
              <a:off x="327661" y="855939"/>
              <a:ext cx="682734" cy="332900"/>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37" name="Straight Connector 36">
              <a:extLst>
                <a:ext uri="{FF2B5EF4-FFF2-40B4-BE49-F238E27FC236}">
                  <a16:creationId xmlns:a16="http://schemas.microsoft.com/office/drawing/2014/main" id="{28292581-FA53-4FB1-9F56-A4460D3F2D1A}"/>
                </a:ext>
              </a:extLst>
            </p:cNvPr>
            <p:cNvCxnSpPr/>
            <p:nvPr userDrawn="1"/>
          </p:nvCxnSpPr>
          <p:spPr>
            <a:xfrm flipH="1">
              <a:off x="232497" y="814564"/>
              <a:ext cx="682734" cy="332900"/>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38" name="Straight Connector 37">
              <a:extLst>
                <a:ext uri="{FF2B5EF4-FFF2-40B4-BE49-F238E27FC236}">
                  <a16:creationId xmlns:a16="http://schemas.microsoft.com/office/drawing/2014/main" id="{24E6DAA0-02D8-4383-BEF3-E7A852AFB2D9}"/>
                </a:ext>
              </a:extLst>
            </p:cNvPr>
            <p:cNvCxnSpPr/>
            <p:nvPr userDrawn="1"/>
          </p:nvCxnSpPr>
          <p:spPr>
            <a:xfrm flipH="1">
              <a:off x="149746" y="764913"/>
              <a:ext cx="682734" cy="332900"/>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39" name="Straight Connector 38">
              <a:extLst>
                <a:ext uri="{FF2B5EF4-FFF2-40B4-BE49-F238E27FC236}">
                  <a16:creationId xmlns:a16="http://schemas.microsoft.com/office/drawing/2014/main" id="{A529D1A7-4EB3-4DA2-B4BD-F1FD767D3796}"/>
                </a:ext>
              </a:extLst>
            </p:cNvPr>
            <p:cNvCxnSpPr/>
            <p:nvPr userDrawn="1"/>
          </p:nvCxnSpPr>
          <p:spPr>
            <a:xfrm flipH="1">
              <a:off x="33895" y="727676"/>
              <a:ext cx="682734" cy="332900"/>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40" name="Straight Connector 39">
              <a:extLst>
                <a:ext uri="{FF2B5EF4-FFF2-40B4-BE49-F238E27FC236}">
                  <a16:creationId xmlns:a16="http://schemas.microsoft.com/office/drawing/2014/main" id="{D8E0BC63-A52C-4EEA-AEA2-38805DC1DE28}"/>
                </a:ext>
              </a:extLst>
            </p:cNvPr>
            <p:cNvCxnSpPr>
              <a:cxnSpLocks/>
            </p:cNvCxnSpPr>
            <p:nvPr userDrawn="1"/>
          </p:nvCxnSpPr>
          <p:spPr>
            <a:xfrm flipH="1">
              <a:off x="0" y="678025"/>
              <a:ext cx="633878" cy="309078"/>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41" name="Straight Connector 40">
              <a:extLst>
                <a:ext uri="{FF2B5EF4-FFF2-40B4-BE49-F238E27FC236}">
                  <a16:creationId xmlns:a16="http://schemas.microsoft.com/office/drawing/2014/main" id="{8105455E-5489-4872-80CE-AE6518C7744A}"/>
                </a:ext>
              </a:extLst>
            </p:cNvPr>
            <p:cNvCxnSpPr>
              <a:cxnSpLocks/>
            </p:cNvCxnSpPr>
            <p:nvPr userDrawn="1"/>
          </p:nvCxnSpPr>
          <p:spPr>
            <a:xfrm flipH="1">
              <a:off x="0" y="640788"/>
              <a:ext cx="534576" cy="260658"/>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42" name="Straight Connector 41">
              <a:extLst>
                <a:ext uri="{FF2B5EF4-FFF2-40B4-BE49-F238E27FC236}">
                  <a16:creationId xmlns:a16="http://schemas.microsoft.com/office/drawing/2014/main" id="{6F6997F6-E925-405E-B92E-00E418A2CB4D}"/>
                </a:ext>
              </a:extLst>
            </p:cNvPr>
            <p:cNvCxnSpPr>
              <a:cxnSpLocks/>
            </p:cNvCxnSpPr>
            <p:nvPr userDrawn="1"/>
          </p:nvCxnSpPr>
          <p:spPr>
            <a:xfrm flipH="1">
              <a:off x="1" y="591137"/>
              <a:ext cx="451824" cy="220309"/>
            </a:xfrm>
            <a:prstGeom prst="line">
              <a:avLst/>
            </a:prstGeom>
            <a:ln/>
          </p:spPr>
          <p:style>
            <a:lnRef idx="2">
              <a:schemeClr val="accent5"/>
            </a:lnRef>
            <a:fillRef idx="0">
              <a:schemeClr val="accent5"/>
            </a:fillRef>
            <a:effectRef idx="1">
              <a:schemeClr val="accent5"/>
            </a:effectRef>
            <a:fontRef idx="minor">
              <a:schemeClr val="tx1"/>
            </a:fontRef>
          </p:style>
        </p:cxnSp>
      </p:grpSp>
      <p:sp>
        <p:nvSpPr>
          <p:cNvPr id="89" name="Freeform: Shape 88">
            <a:extLst>
              <a:ext uri="{FF2B5EF4-FFF2-40B4-BE49-F238E27FC236}">
                <a16:creationId xmlns:a16="http://schemas.microsoft.com/office/drawing/2014/main" id="{C0E0A958-BF2B-4811-80E9-B02B2C1FC23F}"/>
              </a:ext>
            </a:extLst>
          </p:cNvPr>
          <p:cNvSpPr/>
          <p:nvPr userDrawn="1"/>
        </p:nvSpPr>
        <p:spPr>
          <a:xfrm>
            <a:off x="9611590" y="4610192"/>
            <a:ext cx="446811" cy="3162208"/>
          </a:xfrm>
          <a:custGeom>
            <a:avLst/>
            <a:gdLst>
              <a:gd name="connsiteX0" fmla="*/ 446811 w 446811"/>
              <a:gd name="connsiteY0" fmla="*/ 2365624 h 3162208"/>
              <a:gd name="connsiteX1" fmla="*/ 446811 w 446811"/>
              <a:gd name="connsiteY1" fmla="*/ 3162208 h 3162208"/>
              <a:gd name="connsiteX2" fmla="*/ 1223 w 446811"/>
              <a:gd name="connsiteY2" fmla="*/ 3162208 h 3162208"/>
              <a:gd name="connsiteX3" fmla="*/ 1039 w 446811"/>
              <a:gd name="connsiteY3" fmla="*/ 3032450 h 3162208"/>
              <a:gd name="connsiteX4" fmla="*/ 397 w 446811"/>
              <a:gd name="connsiteY4" fmla="*/ 2579158 h 3162208"/>
              <a:gd name="connsiteX5" fmla="*/ 1682 w 446811"/>
              <a:gd name="connsiteY5" fmla="*/ 0 h 3162208"/>
              <a:gd name="connsiteX6" fmla="*/ 446811 w 446811"/>
              <a:gd name="connsiteY6" fmla="*/ 198084 h 3162208"/>
              <a:gd name="connsiteX7" fmla="*/ 446811 w 446811"/>
              <a:gd name="connsiteY7" fmla="*/ 1120117 h 3162208"/>
              <a:gd name="connsiteX8" fmla="*/ 397 w 446811"/>
              <a:gd name="connsiteY8" fmla="*/ 906583 h 3162208"/>
              <a:gd name="connsiteX9" fmla="*/ 1682 w 446811"/>
              <a:gd name="connsiteY9" fmla="*/ 0 h 316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6811" h="3162208">
                <a:moveTo>
                  <a:pt x="446811" y="2365624"/>
                </a:moveTo>
                <a:lnTo>
                  <a:pt x="446811" y="3162208"/>
                </a:lnTo>
                <a:lnTo>
                  <a:pt x="1223" y="3162208"/>
                </a:lnTo>
                <a:lnTo>
                  <a:pt x="1039" y="3032450"/>
                </a:lnTo>
                <a:cubicBezTo>
                  <a:pt x="275" y="2882178"/>
                  <a:pt x="-489" y="2731906"/>
                  <a:pt x="397" y="2579158"/>
                </a:cubicBezTo>
                <a:close/>
                <a:moveTo>
                  <a:pt x="1682" y="0"/>
                </a:moveTo>
                <a:lnTo>
                  <a:pt x="446811" y="198084"/>
                </a:lnTo>
                <a:lnTo>
                  <a:pt x="446811" y="1120117"/>
                </a:lnTo>
                <a:lnTo>
                  <a:pt x="397" y="906583"/>
                </a:lnTo>
                <a:cubicBezTo>
                  <a:pt x="-1375" y="601088"/>
                  <a:pt x="3454" y="305495"/>
                  <a:pt x="1682"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8" name="Freeform: Shape 87">
            <a:extLst>
              <a:ext uri="{FF2B5EF4-FFF2-40B4-BE49-F238E27FC236}">
                <a16:creationId xmlns:a16="http://schemas.microsoft.com/office/drawing/2014/main" id="{E2012B82-AB4F-4D80-866E-16DFEADCD5A7}"/>
              </a:ext>
            </a:extLst>
          </p:cNvPr>
          <p:cNvSpPr/>
          <p:nvPr userDrawn="1"/>
        </p:nvSpPr>
        <p:spPr>
          <a:xfrm flipH="1">
            <a:off x="8880386" y="6021222"/>
            <a:ext cx="1178015" cy="1751178"/>
          </a:xfrm>
          <a:custGeom>
            <a:avLst/>
            <a:gdLst>
              <a:gd name="connsiteX0" fmla="*/ 1178015 w 1178015"/>
              <a:gd name="connsiteY0" fmla="*/ 839248 h 1751178"/>
              <a:gd name="connsiteX1" fmla="*/ 490458 w 1178015"/>
              <a:gd name="connsiteY1" fmla="*/ 1168128 h 1751178"/>
              <a:gd name="connsiteX2" fmla="*/ 491100 w 1178015"/>
              <a:gd name="connsiteY2" fmla="*/ 1621420 h 1751178"/>
              <a:gd name="connsiteX3" fmla="*/ 491284 w 1178015"/>
              <a:gd name="connsiteY3" fmla="*/ 1751178 h 1751178"/>
              <a:gd name="connsiteX4" fmla="*/ 1172815 w 1178015"/>
              <a:gd name="connsiteY4" fmla="*/ 1751178 h 1751178"/>
              <a:gd name="connsiteX5" fmla="*/ 0 w 1178015"/>
              <a:gd name="connsiteY5" fmla="*/ 0 h 1751178"/>
              <a:gd name="connsiteX6" fmla="*/ 0 w 1178015"/>
              <a:gd name="connsiteY6" fmla="*/ 906323 h 1751178"/>
              <a:gd name="connsiteX7" fmla="*/ 445129 w 1178015"/>
              <a:gd name="connsiteY7" fmla="*/ 1120117 h 1751178"/>
              <a:gd name="connsiteX8" fmla="*/ 446414 w 1178015"/>
              <a:gd name="connsiteY8" fmla="*/ 213534 h 1751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8015" h="1751178">
                <a:moveTo>
                  <a:pt x="1178015" y="839248"/>
                </a:moveTo>
                <a:lnTo>
                  <a:pt x="490458" y="1168128"/>
                </a:lnTo>
                <a:cubicBezTo>
                  <a:pt x="489572" y="1320876"/>
                  <a:pt x="490336" y="1471148"/>
                  <a:pt x="491100" y="1621420"/>
                </a:cubicBezTo>
                <a:lnTo>
                  <a:pt x="491284" y="1751178"/>
                </a:lnTo>
                <a:lnTo>
                  <a:pt x="1172815" y="1751178"/>
                </a:lnTo>
                <a:close/>
                <a:moveTo>
                  <a:pt x="0" y="0"/>
                </a:moveTo>
                <a:lnTo>
                  <a:pt x="0" y="906323"/>
                </a:lnTo>
                <a:lnTo>
                  <a:pt x="445129" y="1120117"/>
                </a:lnTo>
                <a:cubicBezTo>
                  <a:pt x="443357" y="814622"/>
                  <a:pt x="448186" y="519029"/>
                  <a:pt x="446414" y="213534"/>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49" name="Group 48">
            <a:extLst>
              <a:ext uri="{FF2B5EF4-FFF2-40B4-BE49-F238E27FC236}">
                <a16:creationId xmlns:a16="http://schemas.microsoft.com/office/drawing/2014/main" id="{7DE641FA-CDC4-48DE-BA35-5FCAA92D6883}"/>
              </a:ext>
            </a:extLst>
          </p:cNvPr>
          <p:cNvGrpSpPr/>
          <p:nvPr userDrawn="1"/>
        </p:nvGrpSpPr>
        <p:grpSpPr>
          <a:xfrm>
            <a:off x="8936266" y="5554350"/>
            <a:ext cx="1122135" cy="647353"/>
            <a:chOff x="-230909" y="591137"/>
            <a:chExt cx="1122135" cy="647353"/>
          </a:xfrm>
        </p:grpSpPr>
        <p:cxnSp>
          <p:nvCxnSpPr>
            <p:cNvPr id="51" name="Straight Connector 50">
              <a:extLst>
                <a:ext uri="{FF2B5EF4-FFF2-40B4-BE49-F238E27FC236}">
                  <a16:creationId xmlns:a16="http://schemas.microsoft.com/office/drawing/2014/main" id="{A2C30A72-9795-4DF0-BA15-74DF66655F83}"/>
                </a:ext>
              </a:extLst>
            </p:cNvPr>
            <p:cNvCxnSpPr>
              <a:cxnSpLocks/>
            </p:cNvCxnSpPr>
            <p:nvPr userDrawn="1"/>
          </p:nvCxnSpPr>
          <p:spPr>
            <a:xfrm flipH="1">
              <a:off x="410412" y="1004046"/>
              <a:ext cx="480814" cy="234444"/>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52" name="Straight Connector 51">
              <a:extLst>
                <a:ext uri="{FF2B5EF4-FFF2-40B4-BE49-F238E27FC236}">
                  <a16:creationId xmlns:a16="http://schemas.microsoft.com/office/drawing/2014/main" id="{1373E20C-9084-4D1C-AA9A-7496B7F811E5}"/>
                </a:ext>
              </a:extLst>
            </p:cNvPr>
            <p:cNvCxnSpPr>
              <a:cxnSpLocks/>
            </p:cNvCxnSpPr>
            <p:nvPr userDrawn="1"/>
          </p:nvCxnSpPr>
          <p:spPr>
            <a:xfrm flipH="1">
              <a:off x="327661" y="914046"/>
              <a:ext cx="563565" cy="274793"/>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53" name="Straight Connector 52">
              <a:extLst>
                <a:ext uri="{FF2B5EF4-FFF2-40B4-BE49-F238E27FC236}">
                  <a16:creationId xmlns:a16="http://schemas.microsoft.com/office/drawing/2014/main" id="{97EF7BB0-711B-4373-B0E4-333173E9FE9A}"/>
                </a:ext>
              </a:extLst>
            </p:cNvPr>
            <p:cNvCxnSpPr>
              <a:cxnSpLocks/>
            </p:cNvCxnSpPr>
            <p:nvPr userDrawn="1"/>
          </p:nvCxnSpPr>
          <p:spPr>
            <a:xfrm flipH="1">
              <a:off x="232497" y="826269"/>
              <a:ext cx="658729" cy="321195"/>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54" name="Straight Connector 53">
              <a:extLst>
                <a:ext uri="{FF2B5EF4-FFF2-40B4-BE49-F238E27FC236}">
                  <a16:creationId xmlns:a16="http://schemas.microsoft.com/office/drawing/2014/main" id="{F39A02F6-AA0B-4C15-969A-895ECC0BF667}"/>
                </a:ext>
              </a:extLst>
            </p:cNvPr>
            <p:cNvCxnSpPr/>
            <p:nvPr userDrawn="1"/>
          </p:nvCxnSpPr>
          <p:spPr>
            <a:xfrm flipH="1">
              <a:off x="145392" y="769267"/>
              <a:ext cx="682734" cy="332900"/>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55" name="Straight Connector 54">
              <a:extLst>
                <a:ext uri="{FF2B5EF4-FFF2-40B4-BE49-F238E27FC236}">
                  <a16:creationId xmlns:a16="http://schemas.microsoft.com/office/drawing/2014/main" id="{3ED305AD-AF46-4E2E-B452-EB1C4FA8C38F}"/>
                </a:ext>
              </a:extLst>
            </p:cNvPr>
            <p:cNvCxnSpPr/>
            <p:nvPr userDrawn="1"/>
          </p:nvCxnSpPr>
          <p:spPr>
            <a:xfrm flipH="1">
              <a:off x="33895" y="727676"/>
              <a:ext cx="682734" cy="332900"/>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56" name="Straight Connector 55">
              <a:extLst>
                <a:ext uri="{FF2B5EF4-FFF2-40B4-BE49-F238E27FC236}">
                  <a16:creationId xmlns:a16="http://schemas.microsoft.com/office/drawing/2014/main" id="{CF9013B0-9896-4007-A676-644084A3A333}"/>
                </a:ext>
              </a:extLst>
            </p:cNvPr>
            <p:cNvCxnSpPr/>
            <p:nvPr userDrawn="1"/>
          </p:nvCxnSpPr>
          <p:spPr>
            <a:xfrm flipH="1">
              <a:off x="-48856" y="678025"/>
              <a:ext cx="682734" cy="332900"/>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57" name="Straight Connector 56">
              <a:extLst>
                <a:ext uri="{FF2B5EF4-FFF2-40B4-BE49-F238E27FC236}">
                  <a16:creationId xmlns:a16="http://schemas.microsoft.com/office/drawing/2014/main" id="{53DD3259-CB9E-437F-A69A-D57FBEE05D63}"/>
                </a:ext>
              </a:extLst>
            </p:cNvPr>
            <p:cNvCxnSpPr/>
            <p:nvPr userDrawn="1"/>
          </p:nvCxnSpPr>
          <p:spPr>
            <a:xfrm flipH="1">
              <a:off x="-148158" y="640788"/>
              <a:ext cx="682734" cy="332900"/>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58" name="Straight Connector 57">
              <a:extLst>
                <a:ext uri="{FF2B5EF4-FFF2-40B4-BE49-F238E27FC236}">
                  <a16:creationId xmlns:a16="http://schemas.microsoft.com/office/drawing/2014/main" id="{EA0852DC-C9C9-4EC1-A0C9-C282979133D0}"/>
                </a:ext>
              </a:extLst>
            </p:cNvPr>
            <p:cNvCxnSpPr/>
            <p:nvPr userDrawn="1"/>
          </p:nvCxnSpPr>
          <p:spPr>
            <a:xfrm flipH="1">
              <a:off x="-230909" y="591137"/>
              <a:ext cx="682734" cy="332900"/>
            </a:xfrm>
            <a:prstGeom prst="line">
              <a:avLst/>
            </a:prstGeom>
            <a:ln/>
          </p:spPr>
          <p:style>
            <a:lnRef idx="2">
              <a:schemeClr val="accent5"/>
            </a:lnRef>
            <a:fillRef idx="0">
              <a:schemeClr val="accent5"/>
            </a:fillRef>
            <a:effectRef idx="1">
              <a:schemeClr val="accent5"/>
            </a:effectRef>
            <a:fontRef idx="minor">
              <a:schemeClr val="tx1"/>
            </a:fontRef>
          </p:style>
        </p:cxnSp>
      </p:grpSp>
      <p:sp>
        <p:nvSpPr>
          <p:cNvPr id="79" name="Freeform: Shape 78">
            <a:extLst>
              <a:ext uri="{FF2B5EF4-FFF2-40B4-BE49-F238E27FC236}">
                <a16:creationId xmlns:a16="http://schemas.microsoft.com/office/drawing/2014/main" id="{A25F9691-1E7B-451A-9ECA-8AB77D0FACDD}"/>
              </a:ext>
            </a:extLst>
          </p:cNvPr>
          <p:cNvSpPr/>
          <p:nvPr userDrawn="1"/>
        </p:nvSpPr>
        <p:spPr>
          <a:xfrm rot="16200000" flipH="1">
            <a:off x="8076772" y="5159711"/>
            <a:ext cx="2785242" cy="1178015"/>
          </a:xfrm>
          <a:custGeom>
            <a:avLst/>
            <a:gdLst>
              <a:gd name="connsiteX0" fmla="*/ 1549779 w 2785242"/>
              <a:gd name="connsiteY0" fmla="*/ 0 h 1178015"/>
              <a:gd name="connsiteX1" fmla="*/ 1878659 w 2785242"/>
              <a:gd name="connsiteY1" fmla="*/ 687557 h 1178015"/>
              <a:gd name="connsiteX2" fmla="*/ 2785242 w 2785242"/>
              <a:gd name="connsiteY2" fmla="*/ 686272 h 1178015"/>
              <a:gd name="connsiteX3" fmla="*/ 2464797 w 2785242"/>
              <a:gd name="connsiteY3" fmla="*/ 5317 h 1178015"/>
              <a:gd name="connsiteX4" fmla="*/ 1549779 w 2785242"/>
              <a:gd name="connsiteY4" fmla="*/ 0 h 1178015"/>
              <a:gd name="connsiteX5" fmla="*/ 0 w 2785242"/>
              <a:gd name="connsiteY5" fmla="*/ 1178015 h 1178015"/>
              <a:gd name="connsiteX6" fmla="*/ 395544 w 2785242"/>
              <a:gd name="connsiteY6" fmla="*/ 1178015 h 1178015"/>
              <a:gd name="connsiteX7" fmla="*/ 204840 w 2785242"/>
              <a:gd name="connsiteY7" fmla="*/ 746697 h 1178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85242" h="1178015">
                <a:moveTo>
                  <a:pt x="1549779" y="0"/>
                </a:moveTo>
                <a:lnTo>
                  <a:pt x="1878659" y="687557"/>
                </a:lnTo>
                <a:cubicBezTo>
                  <a:pt x="2184154" y="689329"/>
                  <a:pt x="2479747" y="684500"/>
                  <a:pt x="2785242" y="686272"/>
                </a:cubicBezTo>
                <a:lnTo>
                  <a:pt x="2464797" y="5317"/>
                </a:lnTo>
                <a:cubicBezTo>
                  <a:pt x="2153985" y="3545"/>
                  <a:pt x="1860591" y="1772"/>
                  <a:pt x="1549779" y="0"/>
                </a:cubicBezTo>
                <a:close/>
                <a:moveTo>
                  <a:pt x="0" y="1178015"/>
                </a:moveTo>
                <a:lnTo>
                  <a:pt x="395544" y="1178015"/>
                </a:lnTo>
                <a:lnTo>
                  <a:pt x="204840" y="746697"/>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713753816"/>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0"/>
            <a:ext cx="8675370" cy="1502305"/>
          </a:xfrm>
          <a:prstGeom prst="rect">
            <a:avLst/>
          </a:prstGeom>
        </p:spPr>
        <p:txBody>
          <a:bodyPr vert="horz" lIns="91440" tIns="45720" rIns="91440" bIns="45720" rtlCol="0" anchor="ctr">
            <a:normAutofit/>
          </a:bodyPr>
          <a:lstStyle/>
          <a:p>
            <a:r>
              <a:rPr lang="en-US" dirty="0"/>
              <a:t>Click to add title</a:t>
            </a:r>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dirty="0"/>
              <a:t>Click to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A2355A94-CD46-C44F-8A53-8AA853BE1DF7}" type="datetimeFigureOut">
              <a:rPr lang="en-US" smtClean="0"/>
              <a:t>4/30/2026</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A9FCBA5E-A969-C44D-8E38-C70ED41C06B6}" type="slidenum">
              <a:rPr lang="en-US" smtClean="0"/>
              <a:t>‹N°›</a:t>
            </a:fld>
            <a:endParaRPr lang="en-US"/>
          </a:p>
        </p:txBody>
      </p:sp>
    </p:spTree>
    <p:extLst>
      <p:ext uri="{BB962C8B-B14F-4D97-AF65-F5344CB8AC3E}">
        <p14:creationId xmlns:p14="http://schemas.microsoft.com/office/powerpoint/2010/main" val="3446068852"/>
      </p:ext>
    </p:extLst>
  </p:cSld>
  <p:clrMap bg1="lt1" tx1="dk1" bg2="lt2" tx2="dk2" accent1="accent1" accent2="accent2" accent3="accent3" accent4="accent4" accent5="accent5" accent6="accent6" hlink="hlink" folHlink="folHlink"/>
  <p:sldLayoutIdLst>
    <p:sldLayoutId id="2147483661" r:id="rId1"/>
  </p:sldLayoutIdLst>
  <p:txStyles>
    <p:titleStyle>
      <a:lvl1pPr algn="l" defTabSz="1005840"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60" indent="-251460" algn="l" defTabSz="1005840"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80" indent="-251460" algn="l" defTabSz="1005840"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300" indent="-251460" algn="l" defTabSz="1005840"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2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314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840" rtl="0" eaLnBrk="1" latinLnBrk="0" hangingPunct="1">
        <a:defRPr sz="1980" kern="1200">
          <a:solidFill>
            <a:schemeClr val="tx1"/>
          </a:solidFill>
          <a:latin typeface="+mn-lt"/>
          <a:ea typeface="+mn-ea"/>
          <a:cs typeface="+mn-cs"/>
        </a:defRPr>
      </a:lvl1pPr>
      <a:lvl2pPr marL="502920" algn="l" defTabSz="1005840" rtl="0" eaLnBrk="1" latinLnBrk="0" hangingPunct="1">
        <a:defRPr sz="1980" kern="1200">
          <a:solidFill>
            <a:schemeClr val="tx1"/>
          </a:solidFill>
          <a:latin typeface="+mn-lt"/>
          <a:ea typeface="+mn-ea"/>
          <a:cs typeface="+mn-cs"/>
        </a:defRPr>
      </a:lvl2pPr>
      <a:lvl3pPr marL="1005840" algn="l" defTabSz="1005840" rtl="0" eaLnBrk="1" latinLnBrk="0" hangingPunct="1">
        <a:defRPr sz="1980" kern="1200">
          <a:solidFill>
            <a:schemeClr val="tx1"/>
          </a:solidFill>
          <a:latin typeface="+mn-lt"/>
          <a:ea typeface="+mn-ea"/>
          <a:cs typeface="+mn-cs"/>
        </a:defRPr>
      </a:lvl3pPr>
      <a:lvl4pPr marL="1508760" algn="l" defTabSz="1005840" rtl="0" eaLnBrk="1" latinLnBrk="0" hangingPunct="1">
        <a:defRPr sz="1980" kern="1200">
          <a:solidFill>
            <a:schemeClr val="tx1"/>
          </a:solidFill>
          <a:latin typeface="+mn-lt"/>
          <a:ea typeface="+mn-ea"/>
          <a:cs typeface="+mn-cs"/>
        </a:defRPr>
      </a:lvl4pPr>
      <a:lvl5pPr marL="2011680" algn="l" defTabSz="1005840" rtl="0" eaLnBrk="1" latinLnBrk="0" hangingPunct="1">
        <a:defRPr sz="1980" kern="1200">
          <a:solidFill>
            <a:schemeClr val="tx1"/>
          </a:solidFill>
          <a:latin typeface="+mn-lt"/>
          <a:ea typeface="+mn-ea"/>
          <a:cs typeface="+mn-cs"/>
        </a:defRPr>
      </a:lvl5pPr>
      <a:lvl6pPr marL="2514600" algn="l" defTabSz="1005840" rtl="0" eaLnBrk="1" latinLnBrk="0" hangingPunct="1">
        <a:defRPr sz="1980" kern="1200">
          <a:solidFill>
            <a:schemeClr val="tx1"/>
          </a:solidFill>
          <a:latin typeface="+mn-lt"/>
          <a:ea typeface="+mn-ea"/>
          <a:cs typeface="+mn-cs"/>
        </a:defRPr>
      </a:lvl6pPr>
      <a:lvl7pPr marL="3017520" algn="l" defTabSz="1005840" rtl="0" eaLnBrk="1" latinLnBrk="0" hangingPunct="1">
        <a:defRPr sz="1980" kern="1200">
          <a:solidFill>
            <a:schemeClr val="tx1"/>
          </a:solidFill>
          <a:latin typeface="+mn-lt"/>
          <a:ea typeface="+mn-ea"/>
          <a:cs typeface="+mn-cs"/>
        </a:defRPr>
      </a:lvl7pPr>
      <a:lvl8pPr marL="3520440" algn="l" defTabSz="1005840" rtl="0" eaLnBrk="1" latinLnBrk="0" hangingPunct="1">
        <a:defRPr sz="1980" kern="1200">
          <a:solidFill>
            <a:schemeClr val="tx1"/>
          </a:solidFill>
          <a:latin typeface="+mn-lt"/>
          <a:ea typeface="+mn-ea"/>
          <a:cs typeface="+mn-cs"/>
        </a:defRPr>
      </a:lvl8pPr>
      <a:lvl9pPr marL="4023360" algn="l" defTabSz="1005840"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ertificate of Completion">
            <a:extLst>
              <a:ext uri="{FF2B5EF4-FFF2-40B4-BE49-F238E27FC236}">
                <a16:creationId xmlns:a16="http://schemas.microsoft.com/office/drawing/2014/main" id="{6CE66C72-8BEE-B947-88BE-D6AE32BB1441}"/>
              </a:ext>
            </a:extLst>
          </p:cNvPr>
          <p:cNvSpPr>
            <a:spLocks noGrp="1"/>
          </p:cNvSpPr>
          <p:nvPr>
            <p:ph type="title"/>
          </p:nvPr>
        </p:nvSpPr>
        <p:spPr>
          <a:xfrm>
            <a:off x="1081572" y="1650360"/>
            <a:ext cx="7893986" cy="595315"/>
          </a:xfrm>
        </p:spPr>
        <p:txBody>
          <a:bodyPr/>
          <a:lstStyle/>
          <a:p>
            <a:r>
              <a:rPr lang="fr-FR" noProof="0" dirty="0"/>
              <a:t>CERTIFICATE OF COMPLETION</a:t>
            </a:r>
          </a:p>
        </p:txBody>
      </p:sp>
      <p:grpSp>
        <p:nvGrpSpPr>
          <p:cNvPr id="39" name="Group 38" descr="logo">
            <a:extLst>
              <a:ext uri="{FF2B5EF4-FFF2-40B4-BE49-F238E27FC236}">
                <a16:creationId xmlns:a16="http://schemas.microsoft.com/office/drawing/2014/main" id="{235A8D45-901E-4CD2-A4AE-0949A4F1F3CB}"/>
              </a:ext>
            </a:extLst>
          </p:cNvPr>
          <p:cNvGrpSpPr/>
          <p:nvPr/>
        </p:nvGrpSpPr>
        <p:grpSpPr>
          <a:xfrm>
            <a:off x="3870251" y="429698"/>
            <a:ext cx="2317898" cy="1124116"/>
            <a:chOff x="3870251" y="429698"/>
            <a:chExt cx="2317898" cy="1124116"/>
          </a:xfrm>
        </p:grpSpPr>
        <p:pic>
          <p:nvPicPr>
            <p:cNvPr id="40" name="Logo">
              <a:extLst>
                <a:ext uri="{FF2B5EF4-FFF2-40B4-BE49-F238E27FC236}">
                  <a16:creationId xmlns:a16="http://schemas.microsoft.com/office/drawing/2014/main" id="{3CA75EA1-1AE3-489A-A550-E93EB26AEB3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14240" y="429698"/>
              <a:ext cx="628650" cy="628650"/>
            </a:xfrm>
            <a:prstGeom prst="rect">
              <a:avLst/>
            </a:prstGeom>
          </p:spPr>
        </p:pic>
        <p:sp>
          <p:nvSpPr>
            <p:cNvPr id="41" name="Logo text">
              <a:extLst>
                <a:ext uri="{FF2B5EF4-FFF2-40B4-BE49-F238E27FC236}">
                  <a16:creationId xmlns:a16="http://schemas.microsoft.com/office/drawing/2014/main" id="{4FDA7FBF-5CD9-43EB-ABA4-D582738D9FD6}"/>
                </a:ext>
              </a:extLst>
            </p:cNvPr>
            <p:cNvSpPr txBox="1">
              <a:spLocks/>
            </p:cNvSpPr>
            <p:nvPr/>
          </p:nvSpPr>
          <p:spPr>
            <a:xfrm>
              <a:off x="3870251" y="1136071"/>
              <a:ext cx="2317898" cy="417743"/>
            </a:xfrm>
            <a:prstGeom prst="rect">
              <a:avLst/>
            </a:prstGeom>
          </p:spPr>
          <p:txBody>
            <a:bodyPr vert="horz" lIns="91440" tIns="45720" rIns="91440" bIns="45720" rtlCol="0">
              <a:normAutofit/>
            </a:bodyPr>
            <a:lstStyle>
              <a:lvl1pPr marL="0" indent="0" algn="ctr" defTabSz="1005840" rtl="0" eaLnBrk="1" latinLnBrk="0" hangingPunct="1">
                <a:lnSpc>
                  <a:spcPct val="90000"/>
                </a:lnSpc>
                <a:spcBef>
                  <a:spcPts val="1100"/>
                </a:spcBef>
                <a:buFont typeface="Arial" panose="020B0604020202020204" pitchFamily="34" charset="0"/>
                <a:buNone/>
                <a:defRPr sz="1800" b="0" i="0" kern="1200">
                  <a:solidFill>
                    <a:schemeClr val="tx1"/>
                  </a:solidFill>
                  <a:latin typeface="Tw Cen MT" panose="020B0602020104020603" pitchFamily="34" charset="77"/>
                  <a:ea typeface="+mn-ea"/>
                  <a:cs typeface="+mn-cs"/>
                </a:defRPr>
              </a:lvl1pPr>
              <a:lvl2pPr marL="754380" indent="-251460" algn="l" defTabSz="1005840" rtl="0" eaLnBrk="1" latinLnBrk="0" hangingPunct="1">
                <a:lnSpc>
                  <a:spcPct val="90000"/>
                </a:lnSpc>
                <a:spcBef>
                  <a:spcPts val="550"/>
                </a:spcBef>
                <a:buFont typeface="Arial" panose="020B0604020202020204" pitchFamily="34" charset="0"/>
                <a:buChar char="•"/>
                <a:defRPr sz="2400" kern="1200">
                  <a:solidFill>
                    <a:schemeClr val="tx1"/>
                  </a:solidFill>
                  <a:latin typeface="+mn-lt"/>
                  <a:ea typeface="+mn-ea"/>
                  <a:cs typeface="+mn-cs"/>
                </a:defRPr>
              </a:lvl2pPr>
              <a:lvl3pPr marL="1257300" indent="-251460" algn="l" defTabSz="1005840" rtl="0" eaLnBrk="1" latinLnBrk="0" hangingPunct="1">
                <a:lnSpc>
                  <a:spcPct val="90000"/>
                </a:lnSpc>
                <a:spcBef>
                  <a:spcPts val="550"/>
                </a:spcBef>
                <a:buFont typeface="Arial" panose="020B0604020202020204" pitchFamily="34" charset="0"/>
                <a:buChar char="•"/>
                <a:defRPr sz="2000" kern="1200">
                  <a:solidFill>
                    <a:schemeClr val="tx1"/>
                  </a:solidFill>
                  <a:latin typeface="+mn-lt"/>
                  <a:ea typeface="+mn-ea"/>
                  <a:cs typeface="+mn-cs"/>
                </a:defRPr>
              </a:lvl3pPr>
              <a:lvl4pPr marL="1760220" indent="-251460" algn="l" defTabSz="1005840" rtl="0" eaLnBrk="1" latinLnBrk="0" hangingPunct="1">
                <a:lnSpc>
                  <a:spcPct val="90000"/>
                </a:lnSpc>
                <a:spcBef>
                  <a:spcPts val="550"/>
                </a:spcBef>
                <a:buFont typeface="Arial" panose="020B0604020202020204" pitchFamily="34" charset="0"/>
                <a:buChar char="•"/>
                <a:defRPr sz="1800" kern="1200">
                  <a:solidFill>
                    <a:schemeClr val="tx1"/>
                  </a:solidFill>
                  <a:latin typeface="+mn-lt"/>
                  <a:ea typeface="+mn-ea"/>
                  <a:cs typeface="+mn-cs"/>
                </a:defRPr>
              </a:lvl4pPr>
              <a:lvl5pPr marL="2263140" indent="-251460" algn="l" defTabSz="1005840" rtl="0" eaLnBrk="1" latinLnBrk="0" hangingPunct="1">
                <a:lnSpc>
                  <a:spcPct val="90000"/>
                </a:lnSpc>
                <a:spcBef>
                  <a:spcPts val="550"/>
                </a:spcBef>
                <a:buFont typeface="Arial" panose="020B0604020202020204" pitchFamily="34" charset="0"/>
                <a:buChar char="•"/>
                <a:defRPr sz="1800" kern="1200">
                  <a:solidFill>
                    <a:schemeClr val="tx1"/>
                  </a:solidFill>
                  <a:latin typeface="+mn-lt"/>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pPr marL="0" marR="0" lvl="0" indent="0" algn="ctr" defTabSz="1005840" rtl="0" eaLnBrk="1" fontAlgn="auto" latinLnBrk="0" hangingPunct="1">
                <a:lnSpc>
                  <a:spcPct val="90000"/>
                </a:lnSpc>
                <a:spcBef>
                  <a:spcPts val="1100"/>
                </a:spcBef>
                <a:spcAft>
                  <a:spcPts val="0"/>
                </a:spcAft>
                <a:buClrTx/>
                <a:buSzTx/>
                <a:buFont typeface="Arial" panose="020B0604020202020204" pitchFamily="34" charset="0"/>
                <a:buNone/>
                <a:tabLst/>
                <a:defRPr/>
              </a:pPr>
              <a:r>
                <a:rPr kumimoji="0" lang="fr-FR" sz="1500" b="0" i="0" u="none" strike="noStrike" kern="1200" cap="none" spc="0" normalizeH="0" baseline="0" noProof="0" dirty="0">
                  <a:ln>
                    <a:noFill/>
                  </a:ln>
                  <a:solidFill>
                    <a:srgbClr val="A4D8D7">
                      <a:lumMod val="50000"/>
                    </a:srgbClr>
                  </a:solidFill>
                  <a:effectLst/>
                  <a:uLnTx/>
                  <a:uFillTx/>
                  <a:latin typeface="+mn-lt"/>
                  <a:ea typeface="+mn-ea"/>
                  <a:cs typeface="+mn-cs"/>
                </a:rPr>
                <a:t>TAILWIND MASSAGE</a:t>
              </a:r>
            </a:p>
          </p:txBody>
        </p:sp>
      </p:grpSp>
      <p:sp>
        <p:nvSpPr>
          <p:cNvPr id="5" name="is hereby granted to">
            <a:extLst>
              <a:ext uri="{FF2B5EF4-FFF2-40B4-BE49-F238E27FC236}">
                <a16:creationId xmlns:a16="http://schemas.microsoft.com/office/drawing/2014/main" id="{9E9660E2-F05F-4D4C-9E31-E8A668CA1872}"/>
              </a:ext>
            </a:extLst>
          </p:cNvPr>
          <p:cNvSpPr>
            <a:spLocks noGrp="1"/>
          </p:cNvSpPr>
          <p:nvPr>
            <p:ph type="body" sz="quarter" idx="10"/>
          </p:nvPr>
        </p:nvSpPr>
        <p:spPr>
          <a:xfrm>
            <a:off x="1280160" y="2867026"/>
            <a:ext cx="7498080" cy="417743"/>
          </a:xfrm>
        </p:spPr>
        <p:txBody>
          <a:bodyPr/>
          <a:lstStyle/>
          <a:p>
            <a:r>
              <a:rPr lang="fr-FR" noProof="0" dirty="0"/>
              <a:t>IS HEREBY GRANTED TO</a:t>
            </a:r>
          </a:p>
        </p:txBody>
      </p:sp>
      <p:sp>
        <p:nvSpPr>
          <p:cNvPr id="6" name="Madeleine Brunelle">
            <a:extLst>
              <a:ext uri="{FF2B5EF4-FFF2-40B4-BE49-F238E27FC236}">
                <a16:creationId xmlns:a16="http://schemas.microsoft.com/office/drawing/2014/main" id="{7E42DC84-5D9D-BB48-BDD8-C8418027C254}"/>
              </a:ext>
            </a:extLst>
          </p:cNvPr>
          <p:cNvSpPr>
            <a:spLocks noGrp="1"/>
          </p:cNvSpPr>
          <p:nvPr>
            <p:ph type="body" sz="quarter" idx="11"/>
          </p:nvPr>
        </p:nvSpPr>
        <p:spPr>
          <a:xfrm>
            <a:off x="692150" y="3284769"/>
            <a:ext cx="8674100" cy="1118504"/>
          </a:xfrm>
        </p:spPr>
        <p:txBody>
          <a:bodyPr/>
          <a:lstStyle/>
          <a:p>
            <a:r>
              <a:rPr lang="fr-FR" noProof="0" dirty="0"/>
              <a:t>MADELEINE BRUNELLE</a:t>
            </a:r>
          </a:p>
        </p:txBody>
      </p:sp>
      <p:sp>
        <p:nvSpPr>
          <p:cNvPr id="7" name="to certify that they have completed massage therapy training">
            <a:extLst>
              <a:ext uri="{FF2B5EF4-FFF2-40B4-BE49-F238E27FC236}">
                <a16:creationId xmlns:a16="http://schemas.microsoft.com/office/drawing/2014/main" id="{D2D66D3E-B6D3-874A-823E-0D8BC2774969}"/>
              </a:ext>
            </a:extLst>
          </p:cNvPr>
          <p:cNvSpPr>
            <a:spLocks noGrp="1"/>
          </p:cNvSpPr>
          <p:nvPr>
            <p:ph type="body" sz="quarter" idx="12"/>
          </p:nvPr>
        </p:nvSpPr>
        <p:spPr>
          <a:xfrm>
            <a:off x="692150" y="4416874"/>
            <a:ext cx="8672830" cy="522968"/>
          </a:xfrm>
        </p:spPr>
        <p:txBody>
          <a:bodyPr/>
          <a:lstStyle/>
          <a:p>
            <a:r>
              <a:rPr lang="fr-FR" noProof="0" dirty="0"/>
              <a:t>TO CERTIFY COMPLETION OF MASSAGE THERAPY TRAINING</a:t>
            </a:r>
          </a:p>
        </p:txBody>
      </p:sp>
      <p:pic>
        <p:nvPicPr>
          <p:cNvPr id="21" name="Picture Placeholder 20" descr="Signature Placeholder">
            <a:extLst>
              <a:ext uri="{FF2B5EF4-FFF2-40B4-BE49-F238E27FC236}">
                <a16:creationId xmlns:a16="http://schemas.microsoft.com/office/drawing/2014/main" id="{8FFECDAA-83B6-4C4D-A30A-AA721F8419F5}"/>
              </a:ext>
            </a:extLst>
          </p:cNvPr>
          <p:cNvPicPr>
            <a:picLocks noGrp="1" noChangeAspect="1"/>
          </p:cNvPicPr>
          <p:nvPr>
            <p:ph type="pic" sz="quarter" idx="16"/>
          </p:nvPr>
        </p:nvPicPr>
        <p:blipFill rotWithShape="1">
          <a:blip r:embed="rId4"/>
          <a:srcRect l="305" r="305"/>
          <a:stretch/>
        </p:blipFill>
        <p:spPr>
          <a:xfrm>
            <a:off x="2058988" y="5930096"/>
            <a:ext cx="2082800" cy="650092"/>
          </a:xfrm>
        </p:spPr>
      </p:pic>
      <p:sp>
        <p:nvSpPr>
          <p:cNvPr id="8" name="Taylor Phillips, LMT">
            <a:extLst>
              <a:ext uri="{FF2B5EF4-FFF2-40B4-BE49-F238E27FC236}">
                <a16:creationId xmlns:a16="http://schemas.microsoft.com/office/drawing/2014/main" id="{6886D0F9-E1DE-6548-8686-07462DB41898}"/>
              </a:ext>
            </a:extLst>
          </p:cNvPr>
          <p:cNvSpPr>
            <a:spLocks noGrp="1"/>
          </p:cNvSpPr>
          <p:nvPr>
            <p:ph type="body" sz="quarter" idx="13"/>
          </p:nvPr>
        </p:nvSpPr>
        <p:spPr>
          <a:xfrm>
            <a:off x="1633540" y="6480520"/>
            <a:ext cx="3127375" cy="428061"/>
          </a:xfrm>
        </p:spPr>
        <p:txBody>
          <a:bodyPr/>
          <a:lstStyle/>
          <a:p>
            <a:r>
              <a:rPr lang="fr-FR" noProof="0" dirty="0"/>
              <a:t>Taylor Phillips, LMT</a:t>
            </a:r>
          </a:p>
        </p:txBody>
      </p:sp>
      <p:sp>
        <p:nvSpPr>
          <p:cNvPr id="10" name="June 04, 20XX">
            <a:extLst>
              <a:ext uri="{FF2B5EF4-FFF2-40B4-BE49-F238E27FC236}">
                <a16:creationId xmlns:a16="http://schemas.microsoft.com/office/drawing/2014/main" id="{8662A95D-9BF5-554F-9E5A-1DDA890463E8}"/>
              </a:ext>
            </a:extLst>
          </p:cNvPr>
          <p:cNvSpPr>
            <a:spLocks noGrp="1"/>
          </p:cNvSpPr>
          <p:nvPr>
            <p:ph type="body" sz="quarter" idx="15"/>
          </p:nvPr>
        </p:nvSpPr>
        <p:spPr>
          <a:xfrm>
            <a:off x="5494340" y="5894731"/>
            <a:ext cx="3127375" cy="428061"/>
          </a:xfrm>
        </p:spPr>
        <p:txBody>
          <a:bodyPr/>
          <a:lstStyle/>
          <a:p>
            <a:r>
              <a:rPr lang="fr-FR" noProof="0" dirty="0"/>
              <a:t>June 04, 20XX</a:t>
            </a:r>
          </a:p>
        </p:txBody>
      </p:sp>
      <p:sp>
        <p:nvSpPr>
          <p:cNvPr id="9" name="Date">
            <a:extLst>
              <a:ext uri="{FF2B5EF4-FFF2-40B4-BE49-F238E27FC236}">
                <a16:creationId xmlns:a16="http://schemas.microsoft.com/office/drawing/2014/main" id="{86BA2A65-AE1C-7846-A1E5-42C8503BA443}"/>
              </a:ext>
            </a:extLst>
          </p:cNvPr>
          <p:cNvSpPr>
            <a:spLocks noGrp="1"/>
          </p:cNvSpPr>
          <p:nvPr>
            <p:ph type="body" sz="quarter" idx="14"/>
          </p:nvPr>
        </p:nvSpPr>
        <p:spPr>
          <a:xfrm>
            <a:off x="5494340" y="6480520"/>
            <a:ext cx="3127375" cy="428061"/>
          </a:xfrm>
        </p:spPr>
        <p:txBody>
          <a:bodyPr/>
          <a:lstStyle/>
          <a:p>
            <a:r>
              <a:rPr lang="fr-FR" noProof="0" dirty="0"/>
              <a:t>Date</a:t>
            </a:r>
          </a:p>
        </p:txBody>
      </p:sp>
    </p:spTree>
    <p:extLst>
      <p:ext uri="{BB962C8B-B14F-4D97-AF65-F5344CB8AC3E}">
        <p14:creationId xmlns:p14="http://schemas.microsoft.com/office/powerpoint/2010/main" val="30710926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711CA-8F96-01C7-EF86-9BFBB544914D}"/>
              </a:ext>
            </a:extLst>
          </p:cNvPr>
          <p:cNvSpPr>
            <a:spLocks noGrp="1"/>
          </p:cNvSpPr>
          <p:nvPr>
            <p:ph type="title"/>
          </p:nvPr>
        </p:nvSpPr>
        <p:spPr>
          <a:xfrm>
            <a:off x="1062708" y="1550458"/>
            <a:ext cx="8475410" cy="595315"/>
          </a:xfrm>
        </p:spPr>
        <p:txBody>
          <a:bodyPr/>
          <a:lstStyle/>
          <a:p>
            <a:r>
              <a:rPr lang="fr-FR" sz="3600" b="1" noProof="0" dirty="0">
                <a:solidFill>
                  <a:srgbClr val="272625"/>
                </a:solidFill>
                <a:latin typeface="Times New Roman" panose="02020603050405020304" pitchFamily="18" charset="0"/>
                <a:cs typeface="Times New Roman" panose="02020603050405020304" pitchFamily="18" charset="0"/>
              </a:rPr>
              <a:t>MISE EN PLACE D’UNE APPLICATION WEB DE GESTION ET SUIVI DES STOCKS DANS UNE PHARMACIE HOSPITALIERE</a:t>
            </a:r>
            <a:br>
              <a:rPr lang="fr-FR" noProof="0" dirty="0">
                <a:solidFill>
                  <a:srgbClr val="272625"/>
                </a:solidFill>
                <a:latin typeface="Times New Roman" panose="02020603050405020304" pitchFamily="18" charset="0"/>
                <a:cs typeface="Times New Roman" panose="02020603050405020304" pitchFamily="18" charset="0"/>
              </a:rPr>
            </a:br>
            <a:endParaRPr lang="fr-FR" noProof="0" dirty="0">
              <a:solidFill>
                <a:srgbClr val="272625"/>
              </a:solidFill>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C70B106B-D2CF-64EA-453A-DCDC7AEA6031}"/>
              </a:ext>
            </a:extLst>
          </p:cNvPr>
          <p:cNvSpPr>
            <a:spLocks noGrp="1"/>
          </p:cNvSpPr>
          <p:nvPr>
            <p:ph type="body" sz="quarter" idx="10"/>
          </p:nvPr>
        </p:nvSpPr>
        <p:spPr>
          <a:xfrm>
            <a:off x="1422353" y="2956793"/>
            <a:ext cx="7498080" cy="417743"/>
          </a:xfrm>
        </p:spPr>
        <p:txBody>
          <a:bodyPr>
            <a:normAutofit lnSpcReduction="10000"/>
          </a:bodyPr>
          <a:lstStyle/>
          <a:p>
            <a:r>
              <a:rPr lang="fr-FR" sz="2400" b="1" noProof="0" dirty="0">
                <a:solidFill>
                  <a:schemeClr val="tx1"/>
                </a:solidFill>
                <a:latin typeface="Times New Roman" panose="02020603050405020304" pitchFamily="18" charset="0"/>
                <a:cs typeface="Times New Roman" panose="02020603050405020304" pitchFamily="18" charset="0"/>
              </a:rPr>
              <a:t>CAS DE L’HÔPITAL LAQUINTINIE</a:t>
            </a:r>
            <a:endParaRPr lang="fr-FR" sz="2400" noProof="0" dirty="0">
              <a:solidFill>
                <a:schemeClr val="tx1"/>
              </a:solidFill>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C4793876-C02F-4C51-FB6E-5ED25BAA0BE4}"/>
              </a:ext>
            </a:extLst>
          </p:cNvPr>
          <p:cNvSpPr>
            <a:spLocks noGrp="1"/>
          </p:cNvSpPr>
          <p:nvPr>
            <p:ph type="body" sz="quarter" idx="11"/>
          </p:nvPr>
        </p:nvSpPr>
        <p:spPr>
          <a:xfrm>
            <a:off x="692150" y="4074343"/>
            <a:ext cx="8674100" cy="1118504"/>
          </a:xfrm>
        </p:spPr>
        <p:txBody>
          <a:bodyPr>
            <a:noAutofit/>
          </a:bodyPr>
          <a:lstStyle/>
          <a:p>
            <a:r>
              <a:rPr lang="fr-FR" noProof="0" dirty="0">
                <a:solidFill>
                  <a:schemeClr val="tx1"/>
                </a:solidFill>
                <a:latin typeface="Times New Roman" panose="02020603050405020304" pitchFamily="18" charset="0"/>
                <a:cs typeface="Times New Roman" panose="02020603050405020304" pitchFamily="18" charset="0"/>
              </a:rPr>
              <a:t>TCHUISSEU NOUKUI PRINCE DERLICH</a:t>
            </a:r>
          </a:p>
        </p:txBody>
      </p:sp>
      <p:sp>
        <p:nvSpPr>
          <p:cNvPr id="6" name="Text Placeholder 5">
            <a:extLst>
              <a:ext uri="{FF2B5EF4-FFF2-40B4-BE49-F238E27FC236}">
                <a16:creationId xmlns:a16="http://schemas.microsoft.com/office/drawing/2014/main" id="{B639E28A-1B9C-277A-4323-BDEC344F8438}"/>
              </a:ext>
            </a:extLst>
          </p:cNvPr>
          <p:cNvSpPr>
            <a:spLocks noGrp="1"/>
          </p:cNvSpPr>
          <p:nvPr>
            <p:ph type="body" sz="quarter" idx="12"/>
          </p:nvPr>
        </p:nvSpPr>
        <p:spPr>
          <a:xfrm>
            <a:off x="692150" y="5750389"/>
            <a:ext cx="8672830" cy="522968"/>
          </a:xfrm>
        </p:spPr>
        <p:txBody>
          <a:bodyPr>
            <a:normAutofit/>
          </a:bodyPr>
          <a:lstStyle/>
          <a:p>
            <a:r>
              <a:rPr lang="fr-FR" sz="2800" noProof="0" dirty="0">
                <a:solidFill>
                  <a:schemeClr val="accent5">
                    <a:lumMod val="50000"/>
                  </a:schemeClr>
                </a:solidFill>
                <a:latin typeface="Times New Roman" panose="02020603050405020304" pitchFamily="18" charset="0"/>
                <a:cs typeface="Times New Roman" panose="02020603050405020304" pitchFamily="18" charset="0"/>
              </a:rPr>
              <a:t>Sous l’encadrement de</a:t>
            </a:r>
          </a:p>
        </p:txBody>
      </p:sp>
      <p:sp>
        <p:nvSpPr>
          <p:cNvPr id="8" name="Text Placeholder 7">
            <a:extLst>
              <a:ext uri="{FF2B5EF4-FFF2-40B4-BE49-F238E27FC236}">
                <a16:creationId xmlns:a16="http://schemas.microsoft.com/office/drawing/2014/main" id="{8EFA76B3-32D6-43E0-7EC3-2E0D8DA03FBD}"/>
              </a:ext>
            </a:extLst>
          </p:cNvPr>
          <p:cNvSpPr>
            <a:spLocks noGrp="1"/>
          </p:cNvSpPr>
          <p:nvPr>
            <p:ph type="body" sz="quarter" idx="13"/>
          </p:nvPr>
        </p:nvSpPr>
        <p:spPr>
          <a:xfrm>
            <a:off x="1670611" y="6431491"/>
            <a:ext cx="3127375" cy="428061"/>
          </a:xfrm>
        </p:spPr>
        <p:txBody>
          <a:bodyPr/>
          <a:lstStyle/>
          <a:p>
            <a:r>
              <a:rPr lang="fr-FR" noProof="0" dirty="0">
                <a:solidFill>
                  <a:schemeClr val="tx1"/>
                </a:solidFill>
                <a:latin typeface="Times New Roman" panose="02020603050405020304" pitchFamily="18" charset="0"/>
                <a:cs typeface="Times New Roman" panose="02020603050405020304" pitchFamily="18" charset="0"/>
              </a:rPr>
              <a:t>******************************</a:t>
            </a:r>
          </a:p>
        </p:txBody>
      </p:sp>
      <p:sp>
        <p:nvSpPr>
          <p:cNvPr id="10" name="Text Placeholder 9">
            <a:extLst>
              <a:ext uri="{FF2B5EF4-FFF2-40B4-BE49-F238E27FC236}">
                <a16:creationId xmlns:a16="http://schemas.microsoft.com/office/drawing/2014/main" id="{2D45B937-4042-AACF-B3BD-E9EE67A18CA3}"/>
              </a:ext>
            </a:extLst>
          </p:cNvPr>
          <p:cNvSpPr>
            <a:spLocks noGrp="1"/>
          </p:cNvSpPr>
          <p:nvPr>
            <p:ph type="body" sz="quarter" idx="14"/>
          </p:nvPr>
        </p:nvSpPr>
        <p:spPr>
          <a:xfrm>
            <a:off x="5570632" y="6339603"/>
            <a:ext cx="3127375" cy="428061"/>
          </a:xfrm>
        </p:spPr>
        <p:txBody>
          <a:bodyPr/>
          <a:lstStyle/>
          <a:p>
            <a:r>
              <a:rPr lang="fr-FR" sz="2800" b="1" noProof="0" dirty="0">
                <a:solidFill>
                  <a:schemeClr val="tx1"/>
                </a:solidFill>
                <a:latin typeface="Times New Roman" panose="02020603050405020304" pitchFamily="18" charset="0"/>
                <a:cs typeface="Times New Roman" panose="02020603050405020304" pitchFamily="18" charset="0"/>
              </a:rPr>
              <a:t>Mr MABOA Ady</a:t>
            </a:r>
            <a:endParaRPr lang="fr-FR" sz="2800" noProof="0" dirty="0">
              <a:solidFill>
                <a:schemeClr val="tx1"/>
              </a:solidFill>
              <a:latin typeface="Times New Roman" panose="02020603050405020304" pitchFamily="18" charset="0"/>
              <a:cs typeface="Times New Roman" panose="02020603050405020304" pitchFamily="18" charset="0"/>
            </a:endParaRPr>
          </a:p>
        </p:txBody>
      </p:sp>
      <p:sp>
        <p:nvSpPr>
          <p:cNvPr id="16" name="Text Placeholder 5">
            <a:extLst>
              <a:ext uri="{FF2B5EF4-FFF2-40B4-BE49-F238E27FC236}">
                <a16:creationId xmlns:a16="http://schemas.microsoft.com/office/drawing/2014/main" id="{F521AF78-0312-9B46-F4D0-830F8AAB18E6}"/>
              </a:ext>
            </a:extLst>
          </p:cNvPr>
          <p:cNvSpPr txBox="1">
            <a:spLocks/>
          </p:cNvSpPr>
          <p:nvPr/>
        </p:nvSpPr>
        <p:spPr>
          <a:xfrm>
            <a:off x="692150" y="7078044"/>
            <a:ext cx="8672830" cy="522968"/>
          </a:xfrm>
          <a:prstGeom prst="rect">
            <a:avLst/>
          </a:prstGeom>
        </p:spPr>
        <p:txBody>
          <a:bodyPr vert="horz" lIns="91440" tIns="45720" rIns="91440" bIns="45720" rtlCol="0">
            <a:normAutofit/>
          </a:bodyPr>
          <a:lstStyle>
            <a:lvl1pPr marL="0" indent="0" algn="ctr" defTabSz="1005840" rtl="0" eaLnBrk="1" latinLnBrk="0" hangingPunct="1">
              <a:lnSpc>
                <a:spcPct val="90000"/>
              </a:lnSpc>
              <a:spcBef>
                <a:spcPts val="1100"/>
              </a:spcBef>
              <a:buFont typeface="Arial" panose="020B0604020202020204" pitchFamily="34" charset="0"/>
              <a:buNone/>
              <a:defRPr sz="1800" b="0" i="0" kern="1200">
                <a:solidFill>
                  <a:schemeClr val="accent3">
                    <a:lumMod val="50000"/>
                  </a:schemeClr>
                </a:solidFill>
                <a:latin typeface="+mn-lt"/>
                <a:ea typeface="+mn-ea"/>
                <a:cs typeface="+mn-cs"/>
              </a:defRPr>
            </a:lvl1pPr>
            <a:lvl2pPr marL="754380" indent="-251460" algn="l" defTabSz="1005840" rtl="0" eaLnBrk="1" latinLnBrk="0" hangingPunct="1">
              <a:lnSpc>
                <a:spcPct val="90000"/>
              </a:lnSpc>
              <a:spcBef>
                <a:spcPts val="550"/>
              </a:spcBef>
              <a:buFont typeface="Arial" panose="020B0604020202020204" pitchFamily="34" charset="0"/>
              <a:buChar char="•"/>
              <a:defRPr sz="2400" kern="1200">
                <a:solidFill>
                  <a:schemeClr val="tx1"/>
                </a:solidFill>
                <a:latin typeface="+mn-lt"/>
                <a:ea typeface="+mn-ea"/>
                <a:cs typeface="+mn-cs"/>
              </a:defRPr>
            </a:lvl2pPr>
            <a:lvl3pPr marL="1257300" indent="-251460" algn="l" defTabSz="1005840" rtl="0" eaLnBrk="1" latinLnBrk="0" hangingPunct="1">
              <a:lnSpc>
                <a:spcPct val="90000"/>
              </a:lnSpc>
              <a:spcBef>
                <a:spcPts val="550"/>
              </a:spcBef>
              <a:buFont typeface="Arial" panose="020B0604020202020204" pitchFamily="34" charset="0"/>
              <a:buChar char="•"/>
              <a:defRPr sz="2000" kern="1200">
                <a:solidFill>
                  <a:schemeClr val="tx1"/>
                </a:solidFill>
                <a:latin typeface="+mn-lt"/>
                <a:ea typeface="+mn-ea"/>
                <a:cs typeface="+mn-cs"/>
              </a:defRPr>
            </a:lvl3pPr>
            <a:lvl4pPr marL="1760220" indent="-251460" algn="l" defTabSz="1005840" rtl="0" eaLnBrk="1" latinLnBrk="0" hangingPunct="1">
              <a:lnSpc>
                <a:spcPct val="90000"/>
              </a:lnSpc>
              <a:spcBef>
                <a:spcPts val="550"/>
              </a:spcBef>
              <a:buFont typeface="Arial" panose="020B0604020202020204" pitchFamily="34" charset="0"/>
              <a:buChar char="•"/>
              <a:defRPr sz="1800" kern="1200">
                <a:solidFill>
                  <a:schemeClr val="tx1"/>
                </a:solidFill>
                <a:latin typeface="+mn-lt"/>
                <a:ea typeface="+mn-ea"/>
                <a:cs typeface="+mn-cs"/>
              </a:defRPr>
            </a:lvl4pPr>
            <a:lvl5pPr marL="2263140" indent="-251460" algn="l" defTabSz="1005840" rtl="0" eaLnBrk="1" latinLnBrk="0" hangingPunct="1">
              <a:lnSpc>
                <a:spcPct val="90000"/>
              </a:lnSpc>
              <a:spcBef>
                <a:spcPts val="550"/>
              </a:spcBef>
              <a:buFont typeface="Arial" panose="020B0604020202020204" pitchFamily="34" charset="0"/>
              <a:buChar char="•"/>
              <a:defRPr sz="1800" kern="1200">
                <a:solidFill>
                  <a:schemeClr val="tx1"/>
                </a:solidFill>
                <a:latin typeface="+mn-lt"/>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a:lstStyle>
          <a:p>
            <a:r>
              <a:rPr lang="fr-FR" sz="2000" b="1" noProof="0" dirty="0">
                <a:solidFill>
                  <a:schemeClr val="tx1"/>
                </a:solidFill>
                <a:latin typeface="Times New Roman" panose="02020603050405020304" pitchFamily="18" charset="0"/>
                <a:cs typeface="Times New Roman" panose="02020603050405020304" pitchFamily="18" charset="0"/>
              </a:rPr>
              <a:t>ANNEE ACADEMIQUE 2025-2026</a:t>
            </a:r>
            <a:endParaRPr lang="fr-FR" sz="2000" noProof="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24882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ZoneTexte 3">
            <a:extLst>
              <a:ext uri="{FF2B5EF4-FFF2-40B4-BE49-F238E27FC236}">
                <a16:creationId xmlns:a16="http://schemas.microsoft.com/office/drawing/2014/main" id="{CF60CBA2-822E-C027-38EA-9F1CC87DBA94}"/>
              </a:ext>
            </a:extLst>
          </p:cNvPr>
          <p:cNvSpPr txBox="1"/>
          <p:nvPr/>
        </p:nvSpPr>
        <p:spPr>
          <a:xfrm>
            <a:off x="1127126" y="774366"/>
            <a:ext cx="3406774" cy="5632311"/>
          </a:xfrm>
          <a:prstGeom prst="rect">
            <a:avLst/>
          </a:prstGeom>
          <a:noFill/>
        </p:spPr>
        <p:txBody>
          <a:bodyPr wrap="square" rtlCol="0">
            <a:spAutoFit/>
          </a:bodyPr>
          <a:lstStyle/>
          <a:p>
            <a:r>
              <a:rPr lang="fr-FR" sz="3200" b="1" noProof="0" dirty="0">
                <a:latin typeface="Times New Roman" panose="02020603050405020304" pitchFamily="18" charset="0"/>
                <a:cs typeface="Times New Roman" panose="02020603050405020304" pitchFamily="18" charset="0"/>
              </a:rPr>
              <a:t>Hôpital </a:t>
            </a:r>
          </a:p>
          <a:p>
            <a:r>
              <a:rPr lang="fr-FR" sz="3200" b="1" noProof="0" dirty="0" err="1">
                <a:latin typeface="Times New Roman" panose="02020603050405020304" pitchFamily="18" charset="0"/>
                <a:cs typeface="Times New Roman" panose="02020603050405020304" pitchFamily="18" charset="0"/>
              </a:rPr>
              <a:t>Laquintinie</a:t>
            </a:r>
            <a:endParaRPr lang="fr-FR" sz="3200" b="1" noProof="0" dirty="0">
              <a:latin typeface="Times New Roman" panose="02020603050405020304" pitchFamily="18" charset="0"/>
              <a:cs typeface="Times New Roman" panose="02020603050405020304" pitchFamily="18" charset="0"/>
            </a:endParaRPr>
          </a:p>
          <a:p>
            <a:r>
              <a:rPr lang="fr-FR" noProof="0" dirty="0">
                <a:solidFill>
                  <a:schemeClr val="accent5">
                    <a:lumMod val="50000"/>
                  </a:schemeClr>
                </a:solidFill>
                <a:latin typeface="Times New Roman" panose="02020603050405020304" pitchFamily="18" charset="0"/>
                <a:cs typeface="Times New Roman" panose="02020603050405020304" pitchFamily="18" charset="0"/>
              </a:rPr>
              <a:t>Douala, Cameroun</a:t>
            </a:r>
          </a:p>
          <a:p>
            <a:endParaRPr lang="fr-FR" noProof="0" dirty="0">
              <a:solidFill>
                <a:schemeClr val="bg1"/>
              </a:solidFill>
              <a:latin typeface="Times New Roman" panose="02020603050405020304" pitchFamily="18" charset="0"/>
              <a:cs typeface="Times New Roman" panose="02020603050405020304" pitchFamily="18" charset="0"/>
            </a:endParaRPr>
          </a:p>
          <a:p>
            <a:r>
              <a:rPr lang="fr-FR" sz="2000" b="1" noProof="0" dirty="0">
                <a:solidFill>
                  <a:srgbClr val="272625"/>
                </a:solidFill>
                <a:latin typeface="Times New Roman" panose="02020603050405020304" pitchFamily="18" charset="0"/>
                <a:cs typeface="Times New Roman" panose="02020603050405020304" pitchFamily="18" charset="0"/>
              </a:rPr>
              <a:t>TYPE</a:t>
            </a:r>
          </a:p>
          <a:p>
            <a:r>
              <a:rPr lang="fr-FR" noProof="0" dirty="0">
                <a:solidFill>
                  <a:schemeClr val="accent5">
                    <a:lumMod val="50000"/>
                  </a:schemeClr>
                </a:solidFill>
                <a:latin typeface="Times New Roman" panose="02020603050405020304" pitchFamily="18" charset="0"/>
                <a:cs typeface="Times New Roman" panose="02020603050405020304" pitchFamily="18" charset="0"/>
              </a:rPr>
              <a:t>Hôpital de Référence de 2ème Catégorie</a:t>
            </a:r>
            <a:endParaRPr lang="fr-FR" noProof="0" dirty="0">
              <a:solidFill>
                <a:schemeClr val="accent1"/>
              </a:solidFill>
              <a:latin typeface="Times New Roman" panose="02020603050405020304" pitchFamily="18" charset="0"/>
              <a:cs typeface="Times New Roman" panose="02020603050405020304" pitchFamily="18" charset="0"/>
            </a:endParaRPr>
          </a:p>
          <a:p>
            <a:endParaRPr lang="fr-FR" noProof="0" dirty="0">
              <a:solidFill>
                <a:schemeClr val="accent1"/>
              </a:solidFill>
              <a:latin typeface="Times New Roman" panose="02020603050405020304" pitchFamily="18" charset="0"/>
              <a:cs typeface="Times New Roman" panose="02020603050405020304" pitchFamily="18" charset="0"/>
            </a:endParaRPr>
          </a:p>
          <a:p>
            <a:r>
              <a:rPr lang="fr-FR" sz="2000" b="1" noProof="0" dirty="0">
                <a:solidFill>
                  <a:srgbClr val="272625"/>
                </a:solidFill>
                <a:latin typeface="Times New Roman" panose="02020603050405020304" pitchFamily="18" charset="0"/>
                <a:cs typeface="Times New Roman" panose="02020603050405020304" pitchFamily="18" charset="0"/>
              </a:rPr>
              <a:t>SECTEUR</a:t>
            </a:r>
          </a:p>
          <a:p>
            <a:r>
              <a:rPr lang="fr-FR" noProof="0" dirty="0">
                <a:solidFill>
                  <a:schemeClr val="accent5">
                    <a:lumMod val="50000"/>
                  </a:schemeClr>
                </a:solidFill>
                <a:latin typeface="Times New Roman" panose="02020603050405020304" pitchFamily="18" charset="0"/>
                <a:cs typeface="Times New Roman" panose="02020603050405020304" pitchFamily="18" charset="0"/>
              </a:rPr>
              <a:t>Santé Publique</a:t>
            </a:r>
          </a:p>
          <a:p>
            <a:endParaRPr lang="fr-FR" noProof="0" dirty="0">
              <a:solidFill>
                <a:schemeClr val="accent1"/>
              </a:solidFill>
              <a:latin typeface="Times New Roman" panose="02020603050405020304" pitchFamily="18" charset="0"/>
              <a:cs typeface="Times New Roman" panose="02020603050405020304" pitchFamily="18" charset="0"/>
            </a:endParaRPr>
          </a:p>
          <a:p>
            <a:r>
              <a:rPr lang="fr-FR" sz="2000" b="1" noProof="0" dirty="0">
                <a:solidFill>
                  <a:srgbClr val="272625"/>
                </a:solidFill>
                <a:latin typeface="Times New Roman" panose="02020603050405020304" pitchFamily="18" charset="0"/>
                <a:cs typeface="Times New Roman" panose="02020603050405020304" pitchFamily="18" charset="0"/>
              </a:rPr>
              <a:t>CAPACITE</a:t>
            </a:r>
          </a:p>
          <a:p>
            <a:r>
              <a:rPr lang="fr-FR" noProof="0" dirty="0">
                <a:solidFill>
                  <a:schemeClr val="accent5">
                    <a:lumMod val="50000"/>
                  </a:schemeClr>
                </a:solidFill>
                <a:latin typeface="Times New Roman" panose="02020603050405020304" pitchFamily="18" charset="0"/>
                <a:cs typeface="Times New Roman" panose="02020603050405020304" pitchFamily="18" charset="0"/>
              </a:rPr>
              <a:t>Structure majeure de la nationale et sous-régionale</a:t>
            </a:r>
          </a:p>
          <a:p>
            <a:endParaRPr lang="fr-FR" noProof="0" dirty="0">
              <a:solidFill>
                <a:schemeClr val="accent5">
                  <a:lumMod val="50000"/>
                </a:schemeClr>
              </a:solidFill>
              <a:latin typeface="Times New Roman" panose="02020603050405020304" pitchFamily="18" charset="0"/>
              <a:cs typeface="Times New Roman" panose="02020603050405020304" pitchFamily="18" charset="0"/>
            </a:endParaRPr>
          </a:p>
          <a:p>
            <a:r>
              <a:rPr lang="fr-FR" sz="2000" b="1" noProof="0" dirty="0">
                <a:latin typeface="Times New Roman" panose="02020603050405020304" pitchFamily="18" charset="0"/>
                <a:cs typeface="Times New Roman" panose="02020603050405020304" pitchFamily="18" charset="0"/>
              </a:rPr>
              <a:t>MISSION</a:t>
            </a:r>
            <a:r>
              <a:rPr lang="fr-FR" sz="2000" noProof="0" dirty="0">
                <a:latin typeface="Times New Roman" panose="02020603050405020304" pitchFamily="18" charset="0"/>
                <a:cs typeface="Times New Roman" panose="02020603050405020304" pitchFamily="18" charset="0"/>
              </a:rPr>
              <a:t> </a:t>
            </a:r>
          </a:p>
          <a:p>
            <a:r>
              <a:rPr lang="fr-FR" noProof="0" dirty="0">
                <a:solidFill>
                  <a:schemeClr val="accent5">
                    <a:lumMod val="50000"/>
                  </a:schemeClr>
                </a:solidFill>
                <a:latin typeface="Times New Roman" panose="02020603050405020304" pitchFamily="18" charset="0"/>
                <a:cs typeface="Times New Roman" panose="02020603050405020304" pitchFamily="18" charset="0"/>
              </a:rPr>
              <a:t>Offrir des soins de qualité, assurer la continuité du service hospitalier</a:t>
            </a:r>
          </a:p>
        </p:txBody>
      </p:sp>
      <p:sp>
        <p:nvSpPr>
          <p:cNvPr id="22" name="ZoneTexte 3">
            <a:extLst>
              <a:ext uri="{FF2B5EF4-FFF2-40B4-BE49-F238E27FC236}">
                <a16:creationId xmlns:a16="http://schemas.microsoft.com/office/drawing/2014/main" id="{2DB7694B-543C-4F0E-A063-49AF131B207B}"/>
              </a:ext>
            </a:extLst>
          </p:cNvPr>
          <p:cNvSpPr txBox="1"/>
          <p:nvPr/>
        </p:nvSpPr>
        <p:spPr>
          <a:xfrm>
            <a:off x="4533900" y="0"/>
            <a:ext cx="5092700" cy="6801862"/>
          </a:xfrm>
          <a:prstGeom prst="rect">
            <a:avLst/>
          </a:prstGeom>
          <a:noFill/>
        </p:spPr>
        <p:txBody>
          <a:bodyPr wrap="square" rtlCol="0">
            <a:spAutoFit/>
          </a:bodyPr>
          <a:lstStyle/>
          <a:p>
            <a:r>
              <a:rPr lang="fr-FR" sz="3200" b="1" noProof="0" dirty="0">
                <a:latin typeface="Times New Roman" panose="02020603050405020304" pitchFamily="18" charset="0"/>
                <a:cs typeface="Times New Roman" panose="02020603050405020304" pitchFamily="18" charset="0"/>
              </a:rPr>
              <a:t>Pharmacie </a:t>
            </a:r>
            <a:br>
              <a:rPr lang="fr-FR" sz="3200" b="1" noProof="0" dirty="0">
                <a:latin typeface="Times New Roman" panose="02020603050405020304" pitchFamily="18" charset="0"/>
                <a:cs typeface="Times New Roman" panose="02020603050405020304" pitchFamily="18" charset="0"/>
              </a:rPr>
            </a:br>
            <a:r>
              <a:rPr lang="fr-FR" sz="3200" b="1" noProof="0" dirty="0">
                <a:latin typeface="Times New Roman" panose="02020603050405020304" pitchFamily="18" charset="0"/>
                <a:cs typeface="Times New Roman" panose="02020603050405020304" pitchFamily="18" charset="0"/>
              </a:rPr>
              <a:t>Hospitalière</a:t>
            </a:r>
          </a:p>
          <a:p>
            <a:endParaRPr lang="fr-FR" sz="800" noProof="0" dirty="0">
              <a:latin typeface="Berlin Sans FB Demi" panose="020E0802020502020306" pitchFamily="34" charset="0"/>
            </a:endParaRPr>
          </a:p>
          <a:p>
            <a:r>
              <a:rPr lang="fr-FR" sz="2000" b="1" noProof="0" dirty="0">
                <a:latin typeface="Times New Roman" panose="02020603050405020304" pitchFamily="18" charset="0"/>
                <a:cs typeface="Times New Roman" panose="02020603050405020304" pitchFamily="18" charset="0"/>
              </a:rPr>
              <a:t>RÔLE STRATÉGIQUE</a:t>
            </a:r>
            <a:r>
              <a:rPr lang="fr-FR" sz="2000" noProof="0" dirty="0">
                <a:latin typeface="Times New Roman" panose="02020603050405020304" pitchFamily="18" charset="0"/>
                <a:cs typeface="Times New Roman" panose="02020603050405020304" pitchFamily="18" charset="0"/>
              </a:rPr>
              <a:t> </a:t>
            </a:r>
            <a:br>
              <a:rPr lang="fr-FR" sz="2000" noProof="0" dirty="0">
                <a:latin typeface="Times New Roman" panose="02020603050405020304" pitchFamily="18" charset="0"/>
                <a:cs typeface="Times New Roman" panose="02020603050405020304" pitchFamily="18" charset="0"/>
              </a:rPr>
            </a:br>
            <a:r>
              <a:rPr lang="fr-FR" noProof="0" dirty="0">
                <a:solidFill>
                  <a:schemeClr val="accent5">
                    <a:lumMod val="50000"/>
                  </a:schemeClr>
                </a:solidFill>
                <a:latin typeface="Times New Roman" panose="02020603050405020304" pitchFamily="18" charset="0"/>
                <a:cs typeface="Times New Roman" panose="02020603050405020304" pitchFamily="18" charset="0"/>
              </a:rPr>
              <a:t>La pharmacie centrale est un service pivot dans le bon fonctionnement de l’hôpital. Elle approvisionne l’ensemble des services en médicaments, consommables, produits de laboratoire, dispositifs médicaux.</a:t>
            </a:r>
          </a:p>
          <a:p>
            <a:endParaRPr lang="fr-FR" sz="800" noProof="0" dirty="0">
              <a:latin typeface="Times New Roman" panose="02020603050405020304" pitchFamily="18" charset="0"/>
              <a:cs typeface="Times New Roman" panose="02020603050405020304" pitchFamily="18" charset="0"/>
            </a:endParaRPr>
          </a:p>
          <a:p>
            <a:r>
              <a:rPr lang="fr-FR" sz="2000" b="1" noProof="0" dirty="0">
                <a:latin typeface="Times New Roman" panose="02020603050405020304" pitchFamily="18" charset="0"/>
                <a:cs typeface="Times New Roman" panose="02020603050405020304" pitchFamily="18" charset="0"/>
              </a:rPr>
              <a:t>ENJEUX MAJEURS</a:t>
            </a:r>
            <a:endParaRPr lang="fr-FR" sz="2000" noProof="0" dirty="0">
              <a:latin typeface="Times New Roman" panose="02020603050405020304" pitchFamily="18" charset="0"/>
              <a:cs typeface="Times New Roman" panose="02020603050405020304" pitchFamily="18" charset="0"/>
            </a:endParaRPr>
          </a:p>
          <a:p>
            <a:r>
              <a:rPr lang="fr-FR" b="1" noProof="0" dirty="0">
                <a:latin typeface="Times New Roman" panose="02020603050405020304" pitchFamily="18" charset="0"/>
                <a:cs typeface="Times New Roman" panose="02020603050405020304" pitchFamily="18" charset="0"/>
              </a:rPr>
              <a:t>Disponibilité</a:t>
            </a:r>
            <a:br>
              <a:rPr lang="fr-FR" b="1" noProof="0" dirty="0">
                <a:latin typeface="Times New Roman" panose="02020603050405020304" pitchFamily="18" charset="0"/>
                <a:cs typeface="Times New Roman" panose="02020603050405020304" pitchFamily="18" charset="0"/>
              </a:rPr>
            </a:br>
            <a:r>
              <a:rPr lang="fr-FR" noProof="0" dirty="0">
                <a:solidFill>
                  <a:schemeClr val="accent5">
                    <a:lumMod val="50000"/>
                  </a:schemeClr>
                </a:solidFill>
              </a:rPr>
              <a:t>Assurer la présence constante des produits vitaux (médicaments d'urgence).</a:t>
            </a:r>
          </a:p>
          <a:p>
            <a:r>
              <a:rPr lang="fr-FR" b="1" noProof="0" dirty="0">
                <a:latin typeface="Times New Roman" panose="02020603050405020304" pitchFamily="18" charset="0"/>
                <a:cs typeface="Times New Roman" panose="02020603050405020304" pitchFamily="18" charset="0"/>
              </a:rPr>
              <a:t>Santé Publique</a:t>
            </a:r>
          </a:p>
          <a:p>
            <a:r>
              <a:rPr lang="fr-FR" noProof="0" dirty="0">
                <a:solidFill>
                  <a:schemeClr val="accent5">
                    <a:lumMod val="50000"/>
                  </a:schemeClr>
                </a:solidFill>
              </a:rPr>
              <a:t>Respecter scrupuleusement les dates de péremption et la traçabilité des lots.</a:t>
            </a:r>
          </a:p>
          <a:p>
            <a:r>
              <a:rPr lang="fr-FR" sz="2000" b="1" dirty="0">
                <a:latin typeface="Times New Roman" panose="02020603050405020304" pitchFamily="18" charset="0"/>
                <a:cs typeface="Times New Roman" panose="02020603050405020304" pitchFamily="18" charset="0"/>
              </a:rPr>
              <a:t>Efficience économique</a:t>
            </a:r>
            <a:br>
              <a:rPr lang="fr-FR" dirty="0">
                <a:latin typeface="Times New Roman" panose="02020603050405020304" pitchFamily="18" charset="0"/>
                <a:cs typeface="Times New Roman" panose="02020603050405020304" pitchFamily="18" charset="0"/>
              </a:rPr>
            </a:br>
            <a:r>
              <a:rPr lang="fr-FR" dirty="0">
                <a:solidFill>
                  <a:schemeClr val="accent5">
                    <a:lumMod val="50000"/>
                  </a:schemeClr>
                </a:solidFill>
                <a:latin typeface="Times New Roman" panose="02020603050405020304" pitchFamily="18" charset="0"/>
                <a:cs typeface="Times New Roman" panose="02020603050405020304" pitchFamily="18" charset="0"/>
              </a:rPr>
              <a:t>Maîtriser la valeur du stock en évitant le surstockage et les ruptures, afin de limiter les pertes financières liées aux produits périmés ou inutilisés et d’optimiser le budget de la pharmacie.</a:t>
            </a:r>
          </a:p>
          <a:p>
            <a:endParaRPr lang="fr-FR" noProof="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52305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7900F031-85BB-BDFA-DDCE-8D7310CE7090}"/>
              </a:ext>
            </a:extLst>
          </p:cNvPr>
          <p:cNvSpPr txBox="1"/>
          <p:nvPr/>
        </p:nvSpPr>
        <p:spPr>
          <a:xfrm>
            <a:off x="3246223" y="278850"/>
            <a:ext cx="3565954" cy="461665"/>
          </a:xfrm>
          <a:prstGeom prst="rect">
            <a:avLst/>
          </a:prstGeom>
          <a:noFill/>
        </p:spPr>
        <p:txBody>
          <a:bodyPr wrap="square">
            <a:spAutoFit/>
          </a:bodyPr>
          <a:lstStyle/>
          <a:p>
            <a:r>
              <a:rPr lang="fr-FR" sz="2400" b="1" i="0" dirty="0">
                <a:effectLst/>
                <a:latin typeface="Times New Roman" panose="02020603050405020304" pitchFamily="18" charset="0"/>
                <a:cs typeface="Times New Roman" panose="02020603050405020304" pitchFamily="18" charset="0"/>
              </a:rPr>
              <a:t>PROBLÉMATIQUE</a:t>
            </a:r>
            <a:endParaRPr lang="en-US" sz="2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409E420A-C0E6-99AA-E8C0-84C7C6F213A7}"/>
                  </a:ext>
                </a:extLst>
              </p:cNvPr>
              <p:cNvSpPr txBox="1"/>
              <p:nvPr/>
            </p:nvSpPr>
            <p:spPr>
              <a:xfrm>
                <a:off x="1149180" y="850726"/>
                <a:ext cx="3994320" cy="1785104"/>
              </a:xfrm>
              <a:prstGeom prst="rect">
                <a:avLst/>
              </a:prstGeom>
              <a:noFill/>
            </p:spPr>
            <p:txBody>
              <a:bodyPr wrap="square">
                <a:spAutoFit/>
              </a:bodyPr>
              <a:lstStyle/>
              <a:p>
                <a:pPr algn="l"/>
                <a:r>
                  <a:rPr lang="fr-FR" sz="2000" b="1" i="0" dirty="0">
                    <a:effectLst/>
                    <a:latin typeface="Times New Roman" panose="02020603050405020304" pitchFamily="18" charset="0"/>
                    <a:cs typeface="Times New Roman" panose="02020603050405020304" pitchFamily="18" charset="0"/>
                  </a:rPr>
                  <a:t>LE DÉFI PERMANENT</a:t>
                </a:r>
              </a:p>
              <a:p>
                <a:pPr algn="l"/>
                <a:r>
                  <a:rPr lang="fr-FR" b="0" i="0" dirty="0">
                    <a:solidFill>
                      <a:schemeClr val="accent5">
                        <a:lumMod val="50000"/>
                      </a:schemeClr>
                    </a:solidFill>
                    <a:effectLst/>
                    <a:latin typeface="Times New Roman" panose="02020603050405020304" pitchFamily="18" charset="0"/>
                    <a:cs typeface="Times New Roman" panose="02020603050405020304" pitchFamily="18" charset="0"/>
                  </a:rPr>
                  <a:t>Assurer la disponibilité des produits de santé </a:t>
                </a:r>
                <a14:m>
                  <m:oMath xmlns:m="http://schemas.openxmlformats.org/officeDocument/2006/math">
                    <m:r>
                      <a:rPr lang="fr-FR">
                        <a:solidFill>
                          <a:schemeClr val="accent5">
                            <a:lumMod val="50000"/>
                          </a:schemeClr>
                        </a:solidFill>
                        <a:latin typeface="Cambria Math" panose="02040503050406030204" pitchFamily="18" charset="0"/>
                      </a:rPr>
                      <m:t>24</m:t>
                    </m:r>
                    <m:r>
                      <a:rPr lang="fr-FR" i="1">
                        <a:solidFill>
                          <a:schemeClr val="accent5">
                            <a:lumMod val="50000"/>
                          </a:schemeClr>
                        </a:solidFill>
                        <a:latin typeface="Cambria Math" panose="02040503050406030204" pitchFamily="18" charset="0"/>
                      </a:rPr>
                      <m:t>h</m:t>
                    </m:r>
                    <m:r>
                      <a:rPr lang="fr-FR" i="0">
                        <a:solidFill>
                          <a:schemeClr val="accent5">
                            <a:lumMod val="50000"/>
                          </a:schemeClr>
                        </a:solidFill>
                        <a:latin typeface="Cambria Math" panose="02040503050406030204" pitchFamily="18" charset="0"/>
                      </a:rPr>
                      <m:t>/24</m:t>
                    </m:r>
                  </m:oMath>
                </a14:m>
                <a:r>
                  <a:rPr lang="fr-FR" b="0" i="0" dirty="0">
                    <a:solidFill>
                      <a:schemeClr val="accent5">
                        <a:lumMod val="50000"/>
                      </a:schemeClr>
                    </a:solidFill>
                    <a:effectLst/>
                    <a:latin typeface="Times New Roman" panose="02020603050405020304" pitchFamily="18" charset="0"/>
                    <a:cs typeface="Times New Roman" panose="02020603050405020304" pitchFamily="18" charset="0"/>
                  </a:rPr>
                  <a:t> et </a:t>
                </a:r>
                <a14:m>
                  <m:oMath xmlns:m="http://schemas.openxmlformats.org/officeDocument/2006/math">
                    <m:r>
                      <a:rPr lang="fr-FR">
                        <a:solidFill>
                          <a:schemeClr val="accent5">
                            <a:lumMod val="50000"/>
                          </a:schemeClr>
                        </a:solidFill>
                        <a:latin typeface="Cambria Math" panose="02040503050406030204" pitchFamily="18" charset="0"/>
                      </a:rPr>
                      <m:t>7</m:t>
                    </m:r>
                    <m:r>
                      <a:rPr lang="fr-FR" i="1">
                        <a:solidFill>
                          <a:schemeClr val="accent5">
                            <a:lumMod val="50000"/>
                          </a:schemeClr>
                        </a:solidFill>
                        <a:latin typeface="Cambria Math" panose="02040503050406030204" pitchFamily="18" charset="0"/>
                      </a:rPr>
                      <m:t>𝑗</m:t>
                    </m:r>
                    <m:r>
                      <a:rPr lang="fr-FR" i="0">
                        <a:solidFill>
                          <a:schemeClr val="accent5">
                            <a:lumMod val="50000"/>
                          </a:schemeClr>
                        </a:solidFill>
                        <a:latin typeface="Cambria Math" panose="02040503050406030204" pitchFamily="18" charset="0"/>
                      </a:rPr>
                      <m:t>/7</m:t>
                    </m:r>
                  </m:oMath>
                </a14:m>
                <a:r>
                  <a:rPr lang="fr-FR" b="0" i="0" dirty="0">
                    <a:solidFill>
                      <a:schemeClr val="accent5">
                        <a:lumMod val="50000"/>
                      </a:schemeClr>
                    </a:solidFill>
                    <a:effectLst/>
                    <a:latin typeface="Times New Roman" panose="02020603050405020304" pitchFamily="18" charset="0"/>
                    <a:cs typeface="Times New Roman" panose="02020603050405020304" pitchFamily="18" charset="0"/>
                  </a:rPr>
                  <a:t>, tout en garantissant la traçabilité, la fiabilité des données et une gestion efficiente des ressources.</a:t>
                </a:r>
              </a:p>
            </p:txBody>
          </p:sp>
        </mc:Choice>
        <mc:Fallback xmlns="">
          <p:sp>
            <p:nvSpPr>
              <p:cNvPr id="24" name="TextBox 23">
                <a:extLst>
                  <a:ext uri="{FF2B5EF4-FFF2-40B4-BE49-F238E27FC236}">
                    <a16:creationId xmlns:a16="http://schemas.microsoft.com/office/drawing/2014/main" id="{409E420A-C0E6-99AA-E8C0-84C7C6F213A7}"/>
                  </a:ext>
                </a:extLst>
              </p:cNvPr>
              <p:cNvSpPr txBox="1">
                <a:spLocks noRot="1" noChangeAspect="1" noMove="1" noResize="1" noEditPoints="1" noAdjustHandles="1" noChangeArrowheads="1" noChangeShapeType="1" noTextEdit="1"/>
              </p:cNvSpPr>
              <p:nvPr/>
            </p:nvSpPr>
            <p:spPr>
              <a:xfrm>
                <a:off x="1149180" y="850726"/>
                <a:ext cx="3994320" cy="1785104"/>
              </a:xfrm>
              <a:prstGeom prst="rect">
                <a:avLst/>
              </a:prstGeom>
              <a:blipFill>
                <a:blip r:embed="rId2"/>
                <a:stretch>
                  <a:fillRect l="-1679" t="-2055" b="-4795"/>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8B0423B4-E961-9F48-E6A2-3D60AC2FAD5C}"/>
              </a:ext>
            </a:extLst>
          </p:cNvPr>
          <p:cNvSpPr txBox="1"/>
          <p:nvPr/>
        </p:nvSpPr>
        <p:spPr>
          <a:xfrm>
            <a:off x="5143500" y="850726"/>
            <a:ext cx="5041556" cy="2893100"/>
          </a:xfrm>
          <a:prstGeom prst="rect">
            <a:avLst/>
          </a:prstGeom>
          <a:noFill/>
        </p:spPr>
        <p:txBody>
          <a:bodyPr wrap="square">
            <a:spAutoFit/>
          </a:bodyPr>
          <a:lstStyle/>
          <a:p>
            <a:pPr algn="l">
              <a:buNone/>
            </a:pPr>
            <a:r>
              <a:rPr lang="fr-FR" sz="2000" b="1" i="0" dirty="0">
                <a:effectLst/>
                <a:latin typeface="Times New Roman" panose="02020603050405020304" pitchFamily="18" charset="0"/>
                <a:cs typeface="Times New Roman" panose="02020603050405020304" pitchFamily="18" charset="0"/>
              </a:rPr>
              <a:t>CONSÉQUENCES</a:t>
            </a:r>
            <a:endParaRPr lang="fr-FR" sz="2000" b="0" i="0" dirty="0">
              <a:effectLst/>
              <a:latin typeface="Times New Roman" panose="02020603050405020304" pitchFamily="18" charset="0"/>
              <a:cs typeface="Times New Roman" panose="02020603050405020304" pitchFamily="18" charset="0"/>
            </a:endParaRPr>
          </a:p>
          <a:p>
            <a:pPr algn="l"/>
            <a:r>
              <a:rPr lang="fr-FR" b="0" i="0" dirty="0">
                <a:solidFill>
                  <a:schemeClr val="accent5">
                    <a:lumMod val="50000"/>
                  </a:schemeClr>
                </a:solidFill>
                <a:effectLst/>
                <a:latin typeface="Times New Roman" panose="02020603050405020304" pitchFamily="18" charset="0"/>
                <a:cs typeface="Times New Roman" panose="02020603050405020304" pitchFamily="18" charset="0"/>
              </a:rPr>
              <a:t>- Risque fréquent de </a:t>
            </a:r>
            <a:r>
              <a:rPr lang="fr-FR" b="1" i="0" dirty="0">
                <a:solidFill>
                  <a:schemeClr val="accent5">
                    <a:lumMod val="50000"/>
                  </a:schemeClr>
                </a:solidFill>
                <a:effectLst/>
                <a:latin typeface="Times New Roman" panose="02020603050405020304" pitchFamily="18" charset="0"/>
                <a:cs typeface="Times New Roman" panose="02020603050405020304" pitchFamily="18" charset="0"/>
              </a:rPr>
              <a:t>rupture de médicaments essentiels</a:t>
            </a:r>
            <a:r>
              <a:rPr lang="fr-FR" b="0" i="0" dirty="0">
                <a:solidFill>
                  <a:schemeClr val="accent5">
                    <a:lumMod val="50000"/>
                  </a:schemeClr>
                </a:solidFill>
                <a:effectLst/>
                <a:latin typeface="Times New Roman" panose="02020603050405020304" pitchFamily="18" charset="0"/>
                <a:cs typeface="Times New Roman" panose="02020603050405020304" pitchFamily="18" charset="0"/>
              </a:rPr>
              <a:t>.</a:t>
            </a:r>
          </a:p>
          <a:p>
            <a:pPr algn="l"/>
            <a:r>
              <a:rPr lang="fr-FR" b="1" i="0" dirty="0">
                <a:solidFill>
                  <a:schemeClr val="accent5">
                    <a:lumMod val="50000"/>
                  </a:schemeClr>
                </a:solidFill>
                <a:effectLst/>
                <a:latin typeface="Times New Roman" panose="02020603050405020304" pitchFamily="18" charset="0"/>
                <a:cs typeface="Times New Roman" panose="02020603050405020304" pitchFamily="18" charset="0"/>
              </a:rPr>
              <a:t>- Temps de réponse prolongé</a:t>
            </a:r>
            <a:r>
              <a:rPr lang="fr-FR" b="0" i="0" dirty="0">
                <a:solidFill>
                  <a:schemeClr val="accent5">
                    <a:lumMod val="50000"/>
                  </a:schemeClr>
                </a:solidFill>
                <a:effectLst/>
                <a:latin typeface="Times New Roman" panose="02020603050405020304" pitchFamily="18" charset="0"/>
                <a:cs typeface="Times New Roman" panose="02020603050405020304" pitchFamily="18" charset="0"/>
              </a:rPr>
              <a:t> pour les commandes internes.</a:t>
            </a:r>
          </a:p>
          <a:p>
            <a:pPr algn="l"/>
            <a:r>
              <a:rPr lang="fr-FR" b="1" i="0" dirty="0">
                <a:solidFill>
                  <a:schemeClr val="accent5">
                    <a:lumMod val="50000"/>
                  </a:schemeClr>
                </a:solidFill>
                <a:effectLst/>
                <a:latin typeface="Times New Roman" panose="02020603050405020304" pitchFamily="18" charset="0"/>
                <a:cs typeface="Times New Roman" panose="02020603050405020304" pitchFamily="18" charset="0"/>
              </a:rPr>
              <a:t>- Mauvaises décisions de gestion</a:t>
            </a:r>
            <a:r>
              <a:rPr lang="fr-FR" b="0" i="0" dirty="0">
                <a:solidFill>
                  <a:schemeClr val="accent5">
                    <a:lumMod val="50000"/>
                  </a:schemeClr>
                </a:solidFill>
                <a:effectLst/>
                <a:latin typeface="Times New Roman" panose="02020603050405020304" pitchFamily="18" charset="0"/>
                <a:cs typeface="Times New Roman" panose="02020603050405020304" pitchFamily="18" charset="0"/>
              </a:rPr>
              <a:t> dues au manque de données synthétiques.</a:t>
            </a:r>
          </a:p>
          <a:p>
            <a:pPr algn="l"/>
            <a:r>
              <a:rPr lang="fr-FR" b="1" i="0" dirty="0">
                <a:solidFill>
                  <a:schemeClr val="accent5">
                    <a:lumMod val="50000"/>
                  </a:schemeClr>
                </a:solidFill>
                <a:effectLst/>
                <a:latin typeface="Times New Roman" panose="02020603050405020304" pitchFamily="18" charset="0"/>
                <a:cs typeface="Times New Roman" panose="02020603050405020304" pitchFamily="18" charset="0"/>
              </a:rPr>
              <a:t>- Surcharge de travail</a:t>
            </a:r>
            <a:r>
              <a:rPr lang="fr-FR" b="0" i="0" dirty="0">
                <a:solidFill>
                  <a:schemeClr val="accent5">
                    <a:lumMod val="50000"/>
                  </a:schemeClr>
                </a:solidFill>
                <a:effectLst/>
                <a:latin typeface="Times New Roman" panose="02020603050405020304" pitchFamily="18" charset="0"/>
                <a:cs typeface="Times New Roman" panose="02020603050405020304" pitchFamily="18" charset="0"/>
              </a:rPr>
              <a:t> pour le personnel obligé de compenser manuellement les insuffisances du système.</a:t>
            </a:r>
          </a:p>
        </p:txBody>
      </p:sp>
      <p:sp>
        <p:nvSpPr>
          <p:cNvPr id="6" name="TextBox 5">
            <a:extLst>
              <a:ext uri="{FF2B5EF4-FFF2-40B4-BE49-F238E27FC236}">
                <a16:creationId xmlns:a16="http://schemas.microsoft.com/office/drawing/2014/main" id="{59B395D6-75E2-120C-2D8E-9DD598AAAD92}"/>
              </a:ext>
            </a:extLst>
          </p:cNvPr>
          <p:cNvSpPr txBox="1"/>
          <p:nvPr/>
        </p:nvSpPr>
        <p:spPr>
          <a:xfrm>
            <a:off x="1149180" y="4046453"/>
            <a:ext cx="4275436" cy="2308324"/>
          </a:xfrm>
          <a:prstGeom prst="rect">
            <a:avLst/>
          </a:prstGeom>
          <a:noFill/>
        </p:spPr>
        <p:txBody>
          <a:bodyPr wrap="square">
            <a:spAutoFit/>
          </a:bodyPr>
          <a:lstStyle/>
          <a:p>
            <a:r>
              <a:rPr lang="en-US" dirty="0" err="1">
                <a:solidFill>
                  <a:schemeClr val="accent5">
                    <a:lumMod val="50000"/>
                  </a:schemeClr>
                </a:solidFill>
                <a:latin typeface="Times New Roman" panose="02020603050405020304" pitchFamily="18" charset="0"/>
                <a:cs typeface="Times New Roman" panose="02020603050405020304" pitchFamily="18" charset="0"/>
              </a:rPr>
              <a:t>L’hôpital</a:t>
            </a:r>
            <a:r>
              <a:rPr lang="en-US" dirty="0">
                <a:solidFill>
                  <a:schemeClr val="accent5">
                    <a:lumMod val="50000"/>
                  </a:schemeClr>
                </a:solidFill>
                <a:latin typeface="Times New Roman" panose="02020603050405020304" pitchFamily="18" charset="0"/>
                <a:cs typeface="Times New Roman" panose="02020603050405020304" pitchFamily="18" charset="0"/>
              </a:rPr>
              <a:t> dispose déjà </a:t>
            </a:r>
            <a:r>
              <a:rPr lang="en-US" dirty="0" err="1">
                <a:solidFill>
                  <a:schemeClr val="accent5">
                    <a:lumMod val="50000"/>
                  </a:schemeClr>
                </a:solidFill>
                <a:latin typeface="Times New Roman" panose="02020603050405020304" pitchFamily="18" charset="0"/>
                <a:cs typeface="Times New Roman" panose="02020603050405020304" pitchFamily="18" charset="0"/>
              </a:rPr>
              <a:t>d’une</a:t>
            </a:r>
            <a:r>
              <a:rPr lang="en-US" dirty="0">
                <a:solidFill>
                  <a:schemeClr val="accent5">
                    <a:lumMod val="50000"/>
                  </a:schemeClr>
                </a:solidFill>
                <a:latin typeface="Times New Roman" panose="02020603050405020304" pitchFamily="18" charset="0"/>
                <a:cs typeface="Times New Roman" panose="02020603050405020304" pitchFamily="18" charset="0"/>
              </a:rPr>
              <a:t> application desktop pour la gestion des stocks </a:t>
            </a:r>
            <a:r>
              <a:rPr lang="en-US" dirty="0" err="1">
                <a:solidFill>
                  <a:schemeClr val="accent5">
                    <a:lumMod val="50000"/>
                  </a:schemeClr>
                </a:solidFill>
                <a:latin typeface="Times New Roman" panose="02020603050405020304" pitchFamily="18" charset="0"/>
                <a:cs typeface="Times New Roman" panose="02020603050405020304" pitchFamily="18" charset="0"/>
              </a:rPr>
              <a:t>pharmaceutiques</a:t>
            </a:r>
            <a:r>
              <a:rPr lang="en-US" dirty="0">
                <a:solidFill>
                  <a:schemeClr val="accent5">
                    <a:lumMod val="50000"/>
                  </a:schemeClr>
                </a:solidFill>
                <a:latin typeface="Times New Roman" panose="02020603050405020304" pitchFamily="18" charset="0"/>
                <a:cs typeface="Times New Roman" panose="02020603050405020304" pitchFamily="18" charset="0"/>
              </a:rPr>
              <a:t>.</a:t>
            </a:r>
          </a:p>
          <a:p>
            <a:r>
              <a:rPr lang="en-US" dirty="0" err="1">
                <a:solidFill>
                  <a:schemeClr val="accent5">
                    <a:lumMod val="50000"/>
                  </a:schemeClr>
                </a:solidFill>
                <a:latin typeface="Times New Roman" panose="02020603050405020304" pitchFamily="18" charset="0"/>
                <a:cs typeface="Times New Roman" panose="02020603050405020304" pitchFamily="18" charset="0"/>
              </a:rPr>
              <a:t>Cependant</a:t>
            </a:r>
            <a:r>
              <a:rPr lang="en-US" dirty="0">
                <a:solidFill>
                  <a:schemeClr val="accent5">
                    <a:lumMod val="50000"/>
                  </a:schemeClr>
                </a:solidFill>
                <a:latin typeface="Times New Roman" panose="02020603050405020304" pitchFamily="18" charset="0"/>
                <a:cs typeface="Times New Roman" panose="02020603050405020304" pitchFamily="18" charset="0"/>
              </a:rPr>
              <a:t>, </a:t>
            </a:r>
            <a:r>
              <a:rPr lang="en-US" dirty="0" err="1">
                <a:solidFill>
                  <a:schemeClr val="accent5">
                    <a:lumMod val="50000"/>
                  </a:schemeClr>
                </a:solidFill>
                <a:latin typeface="Times New Roman" panose="02020603050405020304" pitchFamily="18" charset="0"/>
                <a:cs typeface="Times New Roman" panose="02020603050405020304" pitchFamily="18" charset="0"/>
              </a:rPr>
              <a:t>plusieurs</a:t>
            </a:r>
            <a:r>
              <a:rPr lang="en-US" dirty="0">
                <a:solidFill>
                  <a:schemeClr val="accent5">
                    <a:lumMod val="50000"/>
                  </a:schemeClr>
                </a:solidFill>
                <a:latin typeface="Times New Roman" panose="02020603050405020304" pitchFamily="18" charset="0"/>
                <a:cs typeface="Times New Roman" panose="02020603050405020304" pitchFamily="18" charset="0"/>
              </a:rPr>
              <a:t> </a:t>
            </a:r>
            <a:r>
              <a:rPr lang="en-US" dirty="0" err="1">
                <a:solidFill>
                  <a:schemeClr val="accent5">
                    <a:lumMod val="50000"/>
                  </a:schemeClr>
                </a:solidFill>
                <a:latin typeface="Times New Roman" panose="02020603050405020304" pitchFamily="18" charset="0"/>
                <a:cs typeface="Times New Roman" panose="02020603050405020304" pitchFamily="18" charset="0"/>
              </a:rPr>
              <a:t>limites</a:t>
            </a:r>
            <a:r>
              <a:rPr lang="en-US" dirty="0">
                <a:solidFill>
                  <a:schemeClr val="accent5">
                    <a:lumMod val="50000"/>
                  </a:schemeClr>
                </a:solidFill>
                <a:latin typeface="Times New Roman" panose="02020603050405020304" pitchFamily="18" charset="0"/>
                <a:cs typeface="Times New Roman" panose="02020603050405020304" pitchFamily="18" charset="0"/>
              </a:rPr>
              <a:t> persistent dans son </a:t>
            </a:r>
            <a:r>
              <a:rPr lang="en-US" dirty="0" err="1">
                <a:solidFill>
                  <a:schemeClr val="accent5">
                    <a:lumMod val="50000"/>
                  </a:schemeClr>
                </a:solidFill>
                <a:latin typeface="Times New Roman" panose="02020603050405020304" pitchFamily="18" charset="0"/>
                <a:cs typeface="Times New Roman" panose="02020603050405020304" pitchFamily="18" charset="0"/>
              </a:rPr>
              <a:t>fonctionnement</a:t>
            </a:r>
            <a:r>
              <a:rPr lang="en-US" dirty="0">
                <a:solidFill>
                  <a:schemeClr val="accent5">
                    <a:lumMod val="50000"/>
                  </a:schemeClr>
                </a:solidFill>
                <a:latin typeface="Times New Roman" panose="02020603050405020304" pitchFamily="18" charset="0"/>
                <a:cs typeface="Times New Roman" panose="02020603050405020304" pitchFamily="18" charset="0"/>
              </a:rPr>
              <a:t> :</a:t>
            </a:r>
          </a:p>
          <a:p>
            <a:r>
              <a:rPr lang="en-US" dirty="0">
                <a:solidFill>
                  <a:schemeClr val="accent5">
                    <a:lumMod val="50000"/>
                  </a:schemeClr>
                </a:solidFill>
                <a:latin typeface="Times New Roman" panose="02020603050405020304" pitchFamily="18" charset="0"/>
                <a:cs typeface="Times New Roman" panose="02020603050405020304" pitchFamily="18" charset="0"/>
              </a:rPr>
              <a:t>- Le </a:t>
            </a:r>
            <a:r>
              <a:rPr lang="en-US" dirty="0" err="1">
                <a:solidFill>
                  <a:schemeClr val="accent5">
                    <a:lumMod val="50000"/>
                  </a:schemeClr>
                </a:solidFill>
                <a:latin typeface="Times New Roman" panose="02020603050405020304" pitchFamily="18" charset="0"/>
                <a:cs typeface="Times New Roman" panose="02020603050405020304" pitchFamily="18" charset="0"/>
              </a:rPr>
              <a:t>système</a:t>
            </a:r>
            <a:r>
              <a:rPr lang="en-US" dirty="0">
                <a:solidFill>
                  <a:schemeClr val="accent5">
                    <a:lumMod val="50000"/>
                  </a:schemeClr>
                </a:solidFill>
                <a:latin typeface="Times New Roman" panose="02020603050405020304" pitchFamily="18" charset="0"/>
                <a:cs typeface="Times New Roman" panose="02020603050405020304" pitchFamily="18" charset="0"/>
              </a:rPr>
              <a:t> </a:t>
            </a:r>
            <a:r>
              <a:rPr lang="en-US" dirty="0" err="1">
                <a:solidFill>
                  <a:schemeClr val="accent5">
                    <a:lumMod val="50000"/>
                  </a:schemeClr>
                </a:solidFill>
                <a:latin typeface="Times New Roman" panose="02020603050405020304" pitchFamily="18" charset="0"/>
                <a:cs typeface="Times New Roman" panose="02020603050405020304" pitchFamily="18" charset="0"/>
              </a:rPr>
              <a:t>souffre</a:t>
            </a:r>
            <a:r>
              <a:rPr lang="en-US" dirty="0">
                <a:solidFill>
                  <a:schemeClr val="accent5">
                    <a:lumMod val="50000"/>
                  </a:schemeClr>
                </a:solidFill>
                <a:latin typeface="Times New Roman" panose="02020603050405020304" pitchFamily="18" charset="0"/>
                <a:cs typeface="Times New Roman" panose="02020603050405020304" pitchFamily="18" charset="0"/>
              </a:rPr>
              <a:t> </a:t>
            </a:r>
            <a:r>
              <a:rPr lang="en-US" dirty="0" err="1">
                <a:solidFill>
                  <a:schemeClr val="accent5">
                    <a:lumMod val="50000"/>
                  </a:schemeClr>
                </a:solidFill>
                <a:latin typeface="Times New Roman" panose="02020603050405020304" pitchFamily="18" charset="0"/>
                <a:cs typeface="Times New Roman" panose="02020603050405020304" pitchFamily="18" charset="0"/>
              </a:rPr>
              <a:t>d’une</a:t>
            </a:r>
            <a:r>
              <a:rPr lang="en-US" dirty="0">
                <a:solidFill>
                  <a:schemeClr val="accent5">
                    <a:lumMod val="50000"/>
                  </a:schemeClr>
                </a:solidFill>
                <a:latin typeface="Times New Roman" panose="02020603050405020304" pitchFamily="18" charset="0"/>
                <a:cs typeface="Times New Roman" panose="02020603050405020304" pitchFamily="18" charset="0"/>
              </a:rPr>
              <a:t> </a:t>
            </a:r>
            <a:r>
              <a:rPr lang="en-US" dirty="0" err="1">
                <a:solidFill>
                  <a:schemeClr val="accent5">
                    <a:lumMod val="50000"/>
                  </a:schemeClr>
                </a:solidFill>
                <a:latin typeface="Times New Roman" panose="02020603050405020304" pitchFamily="18" charset="0"/>
                <a:cs typeface="Times New Roman" panose="02020603050405020304" pitchFamily="18" charset="0"/>
              </a:rPr>
              <a:t>lenteur</a:t>
            </a:r>
            <a:r>
              <a:rPr lang="en-US" dirty="0">
                <a:solidFill>
                  <a:schemeClr val="accent5">
                    <a:lumMod val="50000"/>
                  </a:schemeClr>
                </a:solidFill>
                <a:latin typeface="Times New Roman" panose="02020603050405020304" pitchFamily="18" charset="0"/>
                <a:cs typeface="Times New Roman" panose="02020603050405020304" pitchFamily="18" charset="0"/>
              </a:rPr>
              <a:t> </a:t>
            </a:r>
            <a:r>
              <a:rPr lang="en-US" dirty="0" err="1">
                <a:solidFill>
                  <a:schemeClr val="accent5">
                    <a:lumMod val="50000"/>
                  </a:schemeClr>
                </a:solidFill>
                <a:latin typeface="Times New Roman" panose="02020603050405020304" pitchFamily="18" charset="0"/>
                <a:cs typeface="Times New Roman" panose="02020603050405020304" pitchFamily="18" charset="0"/>
              </a:rPr>
              <a:t>d’exécution</a:t>
            </a:r>
            <a:r>
              <a:rPr lang="en-US" dirty="0">
                <a:solidFill>
                  <a:schemeClr val="accent5">
                    <a:lumMod val="50000"/>
                  </a:schemeClr>
                </a:solidFill>
                <a:latin typeface="Times New Roman" panose="02020603050405020304" pitchFamily="18" charset="0"/>
                <a:cs typeface="Times New Roman" panose="02020603050405020304" pitchFamily="18" charset="0"/>
              </a:rPr>
              <a:t> qui </a:t>
            </a:r>
            <a:r>
              <a:rPr lang="en-US" dirty="0" err="1">
                <a:solidFill>
                  <a:schemeClr val="accent5">
                    <a:lumMod val="50000"/>
                  </a:schemeClr>
                </a:solidFill>
                <a:latin typeface="Times New Roman" panose="02020603050405020304" pitchFamily="18" charset="0"/>
                <a:cs typeface="Times New Roman" panose="02020603050405020304" pitchFamily="18" charset="0"/>
              </a:rPr>
              <a:t>ralentit</a:t>
            </a:r>
            <a:r>
              <a:rPr lang="en-US" dirty="0">
                <a:solidFill>
                  <a:schemeClr val="accent5">
                    <a:lumMod val="50000"/>
                  </a:schemeClr>
                </a:solidFill>
                <a:latin typeface="Times New Roman" panose="02020603050405020304" pitchFamily="18" charset="0"/>
                <a:cs typeface="Times New Roman" panose="02020603050405020304" pitchFamily="18" charset="0"/>
              </a:rPr>
              <a:t> la </a:t>
            </a:r>
            <a:r>
              <a:rPr lang="en-US" dirty="0" err="1">
                <a:solidFill>
                  <a:schemeClr val="accent5">
                    <a:lumMod val="50000"/>
                  </a:schemeClr>
                </a:solidFill>
                <a:latin typeface="Times New Roman" panose="02020603050405020304" pitchFamily="18" charset="0"/>
                <a:cs typeface="Times New Roman" panose="02020603050405020304" pitchFamily="18" charset="0"/>
              </a:rPr>
              <a:t>saisie</a:t>
            </a:r>
            <a:r>
              <a:rPr lang="en-US" dirty="0">
                <a:solidFill>
                  <a:schemeClr val="accent5">
                    <a:lumMod val="50000"/>
                  </a:schemeClr>
                </a:solidFill>
                <a:latin typeface="Times New Roman" panose="02020603050405020304" pitchFamily="18" charset="0"/>
                <a:cs typeface="Times New Roman" panose="02020603050405020304" pitchFamily="18" charset="0"/>
              </a:rPr>
              <a:t> et la consultation des données.</a:t>
            </a:r>
          </a:p>
        </p:txBody>
      </p:sp>
      <p:sp>
        <p:nvSpPr>
          <p:cNvPr id="8" name="TextBox 7">
            <a:extLst>
              <a:ext uri="{FF2B5EF4-FFF2-40B4-BE49-F238E27FC236}">
                <a16:creationId xmlns:a16="http://schemas.microsoft.com/office/drawing/2014/main" id="{174D1D36-0E8E-8733-A51F-00F009633A5E}"/>
              </a:ext>
            </a:extLst>
          </p:cNvPr>
          <p:cNvSpPr txBox="1"/>
          <p:nvPr/>
        </p:nvSpPr>
        <p:spPr>
          <a:xfrm>
            <a:off x="5424616" y="4143936"/>
            <a:ext cx="4399006" cy="1754326"/>
          </a:xfrm>
          <a:prstGeom prst="rect">
            <a:avLst/>
          </a:prstGeom>
          <a:noFill/>
        </p:spPr>
        <p:txBody>
          <a:bodyPr wrap="square">
            <a:spAutoFit/>
          </a:bodyPr>
          <a:lstStyle/>
          <a:p>
            <a:r>
              <a:rPr lang="en-US" dirty="0">
                <a:solidFill>
                  <a:schemeClr val="accent5">
                    <a:lumMod val="50000"/>
                  </a:schemeClr>
                </a:solidFill>
                <a:latin typeface="Times New Roman" panose="02020603050405020304" pitchFamily="18" charset="0"/>
                <a:cs typeface="Times New Roman" panose="02020603050405020304" pitchFamily="18" charset="0"/>
              </a:rPr>
              <a:t>- Son interface peu </a:t>
            </a:r>
            <a:r>
              <a:rPr lang="en-US" dirty="0" err="1">
                <a:solidFill>
                  <a:schemeClr val="accent5">
                    <a:lumMod val="50000"/>
                  </a:schemeClr>
                </a:solidFill>
                <a:latin typeface="Times New Roman" panose="02020603050405020304" pitchFamily="18" charset="0"/>
                <a:cs typeface="Times New Roman" panose="02020603050405020304" pitchFamily="18" charset="0"/>
              </a:rPr>
              <a:t>ergonomique</a:t>
            </a:r>
            <a:r>
              <a:rPr lang="en-US" dirty="0">
                <a:solidFill>
                  <a:schemeClr val="accent5">
                    <a:lumMod val="50000"/>
                  </a:schemeClr>
                </a:solidFill>
                <a:latin typeface="Times New Roman" panose="02020603050405020304" pitchFamily="18" charset="0"/>
                <a:cs typeface="Times New Roman" panose="02020603050405020304" pitchFamily="18" charset="0"/>
              </a:rPr>
              <a:t> rend </a:t>
            </a:r>
            <a:r>
              <a:rPr lang="en-US" dirty="0" err="1">
                <a:solidFill>
                  <a:schemeClr val="accent5">
                    <a:lumMod val="50000"/>
                  </a:schemeClr>
                </a:solidFill>
                <a:latin typeface="Times New Roman" panose="02020603050405020304" pitchFamily="18" charset="0"/>
                <a:cs typeface="Times New Roman" panose="02020603050405020304" pitchFamily="18" charset="0"/>
              </a:rPr>
              <a:t>l’utilisation</a:t>
            </a:r>
            <a:r>
              <a:rPr lang="en-US" dirty="0">
                <a:solidFill>
                  <a:schemeClr val="accent5">
                    <a:lumMod val="50000"/>
                  </a:schemeClr>
                </a:solidFill>
                <a:latin typeface="Times New Roman" panose="02020603050405020304" pitchFamily="18" charset="0"/>
                <a:cs typeface="Times New Roman" panose="02020603050405020304" pitchFamily="18" charset="0"/>
              </a:rPr>
              <a:t> difficile pour le personnel, surtout </a:t>
            </a:r>
            <a:r>
              <a:rPr lang="en-US" dirty="0" err="1">
                <a:solidFill>
                  <a:schemeClr val="accent5">
                    <a:lumMod val="50000"/>
                  </a:schemeClr>
                </a:solidFill>
                <a:latin typeface="Times New Roman" panose="02020603050405020304" pitchFamily="18" charset="0"/>
                <a:cs typeface="Times New Roman" panose="02020603050405020304" pitchFamily="18" charset="0"/>
              </a:rPr>
              <a:t>en</a:t>
            </a:r>
            <a:r>
              <a:rPr lang="en-US" dirty="0">
                <a:solidFill>
                  <a:schemeClr val="accent5">
                    <a:lumMod val="50000"/>
                  </a:schemeClr>
                </a:solidFill>
                <a:latin typeface="Times New Roman" panose="02020603050405020304" pitchFamily="18" charset="0"/>
                <a:cs typeface="Times New Roman" panose="02020603050405020304" pitchFamily="18" charset="0"/>
              </a:rPr>
              <a:t> </a:t>
            </a:r>
            <a:r>
              <a:rPr lang="en-US" dirty="0" err="1">
                <a:solidFill>
                  <a:schemeClr val="accent5">
                    <a:lumMod val="50000"/>
                  </a:schemeClr>
                </a:solidFill>
                <a:latin typeface="Times New Roman" panose="02020603050405020304" pitchFamily="18" charset="0"/>
                <a:cs typeface="Times New Roman" panose="02020603050405020304" pitchFamily="18" charset="0"/>
              </a:rPr>
              <a:t>période</a:t>
            </a:r>
            <a:r>
              <a:rPr lang="en-US" dirty="0">
                <a:solidFill>
                  <a:schemeClr val="accent5">
                    <a:lumMod val="50000"/>
                  </a:schemeClr>
                </a:solidFill>
                <a:latin typeface="Times New Roman" panose="02020603050405020304" pitchFamily="18" charset="0"/>
                <a:cs typeface="Times New Roman" panose="02020603050405020304" pitchFamily="18" charset="0"/>
              </a:rPr>
              <a:t> </a:t>
            </a:r>
            <a:r>
              <a:rPr lang="en-US" dirty="0" err="1">
                <a:solidFill>
                  <a:schemeClr val="accent5">
                    <a:lumMod val="50000"/>
                  </a:schemeClr>
                </a:solidFill>
                <a:latin typeface="Times New Roman" panose="02020603050405020304" pitchFamily="18" charset="0"/>
                <a:cs typeface="Times New Roman" panose="02020603050405020304" pitchFamily="18" charset="0"/>
              </a:rPr>
              <a:t>d’affluence</a:t>
            </a:r>
            <a:r>
              <a:rPr lang="en-US" dirty="0">
                <a:solidFill>
                  <a:schemeClr val="accent5">
                    <a:lumMod val="50000"/>
                  </a:schemeClr>
                </a:solidFill>
                <a:latin typeface="Times New Roman" panose="02020603050405020304" pitchFamily="18" charset="0"/>
                <a:cs typeface="Times New Roman" panose="02020603050405020304" pitchFamily="18" charset="0"/>
              </a:rPr>
              <a:t>.</a:t>
            </a:r>
          </a:p>
          <a:p>
            <a:r>
              <a:rPr lang="en-US" dirty="0">
                <a:solidFill>
                  <a:schemeClr val="accent5">
                    <a:lumMod val="50000"/>
                  </a:schemeClr>
                </a:solidFill>
                <a:latin typeface="Times New Roman" panose="02020603050405020304" pitchFamily="18" charset="0"/>
                <a:cs typeface="Times New Roman" panose="02020603050405020304" pitchFamily="18" charset="0"/>
              </a:rPr>
              <a:t>- Il ne </a:t>
            </a:r>
            <a:r>
              <a:rPr lang="en-US" dirty="0" err="1">
                <a:solidFill>
                  <a:schemeClr val="accent5">
                    <a:lumMod val="50000"/>
                  </a:schemeClr>
                </a:solidFill>
                <a:latin typeface="Times New Roman" panose="02020603050405020304" pitchFamily="18" charset="0"/>
                <a:cs typeface="Times New Roman" panose="02020603050405020304" pitchFamily="18" charset="0"/>
              </a:rPr>
              <a:t>signale</a:t>
            </a:r>
            <a:r>
              <a:rPr lang="en-US" dirty="0">
                <a:solidFill>
                  <a:schemeClr val="accent5">
                    <a:lumMod val="50000"/>
                  </a:schemeClr>
                </a:solidFill>
                <a:latin typeface="Times New Roman" panose="02020603050405020304" pitchFamily="18" charset="0"/>
                <a:cs typeface="Times New Roman" panose="02020603050405020304" pitchFamily="18" charset="0"/>
              </a:rPr>
              <a:t> pas les </a:t>
            </a:r>
            <a:r>
              <a:rPr lang="en-US" dirty="0" err="1">
                <a:solidFill>
                  <a:schemeClr val="accent5">
                    <a:lumMod val="50000"/>
                  </a:schemeClr>
                </a:solidFill>
                <a:latin typeface="Times New Roman" panose="02020603050405020304" pitchFamily="18" charset="0"/>
                <a:cs typeface="Times New Roman" panose="02020603050405020304" pitchFamily="18" charset="0"/>
              </a:rPr>
              <a:t>produits</a:t>
            </a:r>
            <a:r>
              <a:rPr lang="en-US" dirty="0">
                <a:solidFill>
                  <a:schemeClr val="accent5">
                    <a:lumMod val="50000"/>
                  </a:schemeClr>
                </a:solidFill>
                <a:latin typeface="Times New Roman" panose="02020603050405020304" pitchFamily="18" charset="0"/>
                <a:cs typeface="Times New Roman" panose="02020603050405020304" pitchFamily="18" charset="0"/>
              </a:rPr>
              <a:t> </a:t>
            </a:r>
            <a:r>
              <a:rPr lang="en-US" dirty="0" err="1">
                <a:solidFill>
                  <a:schemeClr val="accent5">
                    <a:lumMod val="50000"/>
                  </a:schemeClr>
                </a:solidFill>
                <a:latin typeface="Times New Roman" panose="02020603050405020304" pitchFamily="18" charset="0"/>
                <a:cs typeface="Times New Roman" panose="02020603050405020304" pitchFamily="18" charset="0"/>
              </a:rPr>
              <a:t>périmés</a:t>
            </a:r>
            <a:r>
              <a:rPr lang="en-US" dirty="0">
                <a:solidFill>
                  <a:schemeClr val="accent5">
                    <a:lumMod val="50000"/>
                  </a:schemeClr>
                </a:solidFill>
                <a:latin typeface="Times New Roman" panose="02020603050405020304" pitchFamily="18" charset="0"/>
                <a:cs typeface="Times New Roman" panose="02020603050405020304" pitchFamily="18" charset="0"/>
              </a:rPr>
              <a:t> </a:t>
            </a:r>
            <a:r>
              <a:rPr lang="en-US" dirty="0" err="1">
                <a:solidFill>
                  <a:schemeClr val="accent5">
                    <a:lumMod val="50000"/>
                  </a:schemeClr>
                </a:solidFill>
                <a:latin typeface="Times New Roman" panose="02020603050405020304" pitchFamily="18" charset="0"/>
                <a:cs typeface="Times New Roman" panose="02020603050405020304" pitchFamily="18" charset="0"/>
              </a:rPr>
              <a:t>ni</a:t>
            </a:r>
            <a:r>
              <a:rPr lang="en-US" dirty="0">
                <a:solidFill>
                  <a:schemeClr val="accent5">
                    <a:lumMod val="50000"/>
                  </a:schemeClr>
                </a:solidFill>
                <a:latin typeface="Times New Roman" panose="02020603050405020304" pitchFamily="18" charset="0"/>
                <a:cs typeface="Times New Roman" panose="02020603050405020304" pitchFamily="18" charset="0"/>
              </a:rPr>
              <a:t> les situations de rupture de stock </a:t>
            </a:r>
            <a:r>
              <a:rPr lang="en-US" dirty="0" err="1">
                <a:solidFill>
                  <a:schemeClr val="accent5">
                    <a:lumMod val="50000"/>
                  </a:schemeClr>
                </a:solidFill>
                <a:latin typeface="Times New Roman" panose="02020603050405020304" pitchFamily="18" charset="0"/>
                <a:cs typeface="Times New Roman" panose="02020603050405020304" pitchFamily="18" charset="0"/>
              </a:rPr>
              <a:t>imminente</a:t>
            </a:r>
            <a:r>
              <a:rPr lang="en-US" dirty="0">
                <a:solidFill>
                  <a:schemeClr val="accent5">
                    <a:lumMod val="50000"/>
                  </a:schemeClr>
                </a:solidFill>
                <a:latin typeface="Times New Roman" panose="02020603050405020304" pitchFamily="18" charset="0"/>
                <a:cs typeface="Times New Roman" panose="02020603050405020304" pitchFamily="18" charset="0"/>
              </a:rPr>
              <a:t>, </a:t>
            </a:r>
            <a:r>
              <a:rPr lang="en-US" dirty="0" err="1">
                <a:solidFill>
                  <a:schemeClr val="accent5">
                    <a:lumMod val="50000"/>
                  </a:schemeClr>
                </a:solidFill>
                <a:latin typeface="Times New Roman" panose="02020603050405020304" pitchFamily="18" charset="0"/>
                <a:cs typeface="Times New Roman" panose="02020603050405020304" pitchFamily="18" charset="0"/>
              </a:rPr>
              <a:t>ce</a:t>
            </a:r>
            <a:r>
              <a:rPr lang="en-US" dirty="0">
                <a:solidFill>
                  <a:schemeClr val="accent5">
                    <a:lumMod val="50000"/>
                  </a:schemeClr>
                </a:solidFill>
                <a:latin typeface="Times New Roman" panose="02020603050405020304" pitchFamily="18" charset="0"/>
                <a:cs typeface="Times New Roman" panose="02020603050405020304" pitchFamily="18" charset="0"/>
              </a:rPr>
              <a:t> qui </a:t>
            </a:r>
            <a:r>
              <a:rPr lang="en-US" dirty="0" err="1">
                <a:solidFill>
                  <a:schemeClr val="accent5">
                    <a:lumMod val="50000"/>
                  </a:schemeClr>
                </a:solidFill>
                <a:latin typeface="Times New Roman" panose="02020603050405020304" pitchFamily="18" charset="0"/>
                <a:cs typeface="Times New Roman" panose="02020603050405020304" pitchFamily="18" charset="0"/>
              </a:rPr>
              <a:t>complique</a:t>
            </a:r>
            <a:r>
              <a:rPr lang="en-US" dirty="0">
                <a:solidFill>
                  <a:schemeClr val="accent5">
                    <a:lumMod val="50000"/>
                  </a:schemeClr>
                </a:solidFill>
                <a:latin typeface="Times New Roman" panose="02020603050405020304" pitchFamily="18" charset="0"/>
                <a:cs typeface="Times New Roman" panose="02020603050405020304" pitchFamily="18" charset="0"/>
              </a:rPr>
              <a:t> le </a:t>
            </a:r>
            <a:r>
              <a:rPr lang="en-US" dirty="0" err="1">
                <a:solidFill>
                  <a:schemeClr val="accent5">
                    <a:lumMod val="50000"/>
                  </a:schemeClr>
                </a:solidFill>
                <a:latin typeface="Times New Roman" panose="02020603050405020304" pitchFamily="18" charset="0"/>
                <a:cs typeface="Times New Roman" panose="02020603050405020304" pitchFamily="18" charset="0"/>
              </a:rPr>
              <a:t>suivi</a:t>
            </a:r>
            <a:r>
              <a:rPr lang="en-US" dirty="0">
                <a:solidFill>
                  <a:schemeClr val="accent5">
                    <a:lumMod val="50000"/>
                  </a:schemeClr>
                </a:solidFill>
                <a:latin typeface="Times New Roman" panose="02020603050405020304" pitchFamily="18" charset="0"/>
                <a:cs typeface="Times New Roman" panose="02020603050405020304" pitchFamily="18" charset="0"/>
              </a:rPr>
              <a:t> </a:t>
            </a:r>
            <a:r>
              <a:rPr lang="en-US" dirty="0" err="1">
                <a:solidFill>
                  <a:schemeClr val="accent5">
                    <a:lumMod val="50000"/>
                  </a:schemeClr>
                </a:solidFill>
                <a:latin typeface="Times New Roman" panose="02020603050405020304" pitchFamily="18" charset="0"/>
                <a:cs typeface="Times New Roman" panose="02020603050405020304" pitchFamily="18" charset="0"/>
              </a:rPr>
              <a:t>préventif</a:t>
            </a:r>
            <a:r>
              <a:rPr lang="en-US" dirty="0">
                <a:solidFill>
                  <a:schemeClr val="accent5">
                    <a:lumMod val="50000"/>
                  </a:schemeClr>
                </a:solidFill>
                <a:latin typeface="Times New Roman" panose="02020603050405020304" pitchFamily="18" charset="0"/>
                <a:cs typeface="Times New Roman" panose="02020603050405020304" pitchFamily="18" charset="0"/>
              </a:rPr>
              <a:t>.</a:t>
            </a:r>
          </a:p>
        </p:txBody>
      </p:sp>
      <p:sp>
        <p:nvSpPr>
          <p:cNvPr id="10" name="TextBox 9">
            <a:extLst>
              <a:ext uri="{FF2B5EF4-FFF2-40B4-BE49-F238E27FC236}">
                <a16:creationId xmlns:a16="http://schemas.microsoft.com/office/drawing/2014/main" id="{89E1E338-36F0-3863-C65B-B5C6B4B2CF21}"/>
              </a:ext>
            </a:extLst>
          </p:cNvPr>
          <p:cNvSpPr txBox="1"/>
          <p:nvPr/>
        </p:nvSpPr>
        <p:spPr>
          <a:xfrm>
            <a:off x="2971800" y="3743826"/>
            <a:ext cx="3799703" cy="400110"/>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CONTRAINTES ACTUELLES</a:t>
            </a:r>
            <a:endParaRPr lang="en-US" sz="2000" dirty="0"/>
          </a:p>
        </p:txBody>
      </p:sp>
    </p:spTree>
    <p:extLst>
      <p:ext uri="{BB962C8B-B14F-4D97-AF65-F5344CB8AC3E}">
        <p14:creationId xmlns:p14="http://schemas.microsoft.com/office/powerpoint/2010/main" val="1148865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AC927682-BF4E-DA87-F23E-04E1F9A0F67C}"/>
              </a:ext>
            </a:extLst>
          </p:cNvPr>
          <p:cNvSpPr txBox="1"/>
          <p:nvPr/>
        </p:nvSpPr>
        <p:spPr>
          <a:xfrm>
            <a:off x="3095367" y="870809"/>
            <a:ext cx="5023022" cy="461665"/>
          </a:xfrm>
          <a:prstGeom prst="rect">
            <a:avLst/>
          </a:prstGeom>
          <a:noFill/>
        </p:spPr>
        <p:txBody>
          <a:bodyPr wrap="square">
            <a:spAutoFit/>
          </a:bodyPr>
          <a:lstStyle/>
          <a:p>
            <a:r>
              <a:rPr lang="fr-FR" sz="2400" b="1" i="0" dirty="0">
                <a:effectLst/>
                <a:latin typeface="Times New Roman" panose="02020603050405020304" pitchFamily="18" charset="0"/>
                <a:cs typeface="Times New Roman" panose="02020603050405020304" pitchFamily="18" charset="0"/>
              </a:rPr>
              <a:t>JUSTIFICATION DU PROJET</a:t>
            </a:r>
            <a:endParaRPr lang="en-US" sz="2400" dirty="0"/>
          </a:p>
        </p:txBody>
      </p:sp>
      <p:sp>
        <p:nvSpPr>
          <p:cNvPr id="14" name="TextBox 13">
            <a:extLst>
              <a:ext uri="{FF2B5EF4-FFF2-40B4-BE49-F238E27FC236}">
                <a16:creationId xmlns:a16="http://schemas.microsoft.com/office/drawing/2014/main" id="{241DA1C3-E548-749D-58B2-F2F2B9266CC7}"/>
              </a:ext>
            </a:extLst>
          </p:cNvPr>
          <p:cNvSpPr txBox="1"/>
          <p:nvPr/>
        </p:nvSpPr>
        <p:spPr>
          <a:xfrm>
            <a:off x="1767017" y="1624042"/>
            <a:ext cx="7154562" cy="4524315"/>
          </a:xfrm>
          <a:prstGeom prst="rect">
            <a:avLst/>
          </a:prstGeom>
          <a:noFill/>
        </p:spPr>
        <p:txBody>
          <a:bodyPr wrap="square">
            <a:spAutoFit/>
          </a:bodyPr>
          <a:lstStyle/>
          <a:p>
            <a:pPr algn="l"/>
            <a:r>
              <a:rPr lang="fr-FR" b="0" i="0" dirty="0">
                <a:solidFill>
                  <a:schemeClr val="accent5">
                    <a:lumMod val="50000"/>
                  </a:schemeClr>
                </a:solidFill>
                <a:effectLst/>
                <a:latin typeface="Times New Roman" panose="02020603050405020304" pitchFamily="18" charset="0"/>
                <a:cs typeface="Times New Roman" panose="02020603050405020304" pitchFamily="18" charset="0"/>
              </a:rPr>
              <a:t>- La pharmacie hospitalière de l’Hôpital </a:t>
            </a:r>
            <a:r>
              <a:rPr lang="fr-FR" b="0" i="0" dirty="0" err="1">
                <a:solidFill>
                  <a:schemeClr val="accent5">
                    <a:lumMod val="50000"/>
                  </a:schemeClr>
                </a:solidFill>
                <a:effectLst/>
                <a:latin typeface="Times New Roman" panose="02020603050405020304" pitchFamily="18" charset="0"/>
                <a:cs typeface="Times New Roman" panose="02020603050405020304" pitchFamily="18" charset="0"/>
              </a:rPr>
              <a:t>Laquintinie</a:t>
            </a:r>
            <a:r>
              <a:rPr lang="fr-FR" b="0" i="0" dirty="0">
                <a:solidFill>
                  <a:schemeClr val="accent5">
                    <a:lumMod val="50000"/>
                  </a:schemeClr>
                </a:solidFill>
                <a:effectLst/>
                <a:latin typeface="Times New Roman" panose="02020603050405020304" pitchFamily="18" charset="0"/>
                <a:cs typeface="Times New Roman" panose="02020603050405020304" pitchFamily="18" charset="0"/>
              </a:rPr>
              <a:t> gère un volume important de médicaments et consommables, avec un flux constant de demandes provenant de plusieurs points de vente et services cliniques.​</a:t>
            </a:r>
          </a:p>
          <a:p>
            <a:pPr algn="l"/>
            <a:r>
              <a:rPr lang="fr-FR" b="0" i="0" dirty="0">
                <a:solidFill>
                  <a:schemeClr val="accent5">
                    <a:lumMod val="50000"/>
                  </a:schemeClr>
                </a:solidFill>
                <a:effectLst/>
                <a:latin typeface="Times New Roman" panose="02020603050405020304" pitchFamily="18" charset="0"/>
                <a:cs typeface="Times New Roman" panose="02020603050405020304" pitchFamily="18" charset="0"/>
              </a:rPr>
              <a:t>- Le logiciel actuel, bien qu’informatisé, reste lent, peu ergonomique et ne permet ni le suivi en temps réel, ni les alertes sur les produits périmés ou en rupture.​</a:t>
            </a:r>
          </a:p>
          <a:p>
            <a:pPr algn="l"/>
            <a:r>
              <a:rPr lang="fr-FR" b="0" i="0" dirty="0">
                <a:solidFill>
                  <a:schemeClr val="accent5">
                    <a:lumMod val="50000"/>
                  </a:schemeClr>
                </a:solidFill>
                <a:effectLst/>
                <a:latin typeface="Times New Roman" panose="02020603050405020304" pitchFamily="18" charset="0"/>
                <a:cs typeface="Times New Roman" panose="02020603050405020304" pitchFamily="18" charset="0"/>
              </a:rPr>
              <a:t>- L’absence de tableaux de bord décisionnels (produits les plus sortis, services les plus consommateurs, bilans financiers par période) limite fortement la capacité de pilotage de la pharmacie.​</a:t>
            </a:r>
          </a:p>
          <a:p>
            <a:pPr algn="l"/>
            <a:r>
              <a:rPr lang="fr-FR" b="0" i="0" dirty="0">
                <a:solidFill>
                  <a:schemeClr val="accent5">
                    <a:lumMod val="50000"/>
                  </a:schemeClr>
                </a:solidFill>
                <a:effectLst/>
                <a:latin typeface="Times New Roman" panose="02020603050405020304" pitchFamily="18" charset="0"/>
                <a:cs typeface="Times New Roman" panose="02020603050405020304" pitchFamily="18" charset="0"/>
              </a:rPr>
              <a:t>- Ces limites ont un impact direct sur la continuité des soins, la disponibilité des produits essentiels et l’optimisation des ressources financières de l’hôpital.​</a:t>
            </a:r>
          </a:p>
          <a:p>
            <a:pPr algn="l"/>
            <a:r>
              <a:rPr lang="fr-FR" b="0" i="0" dirty="0">
                <a:solidFill>
                  <a:schemeClr val="accent5">
                    <a:lumMod val="50000"/>
                  </a:schemeClr>
                </a:solidFill>
                <a:effectLst/>
                <a:latin typeface="Times New Roman" panose="02020603050405020304" pitchFamily="18" charset="0"/>
                <a:cs typeface="Times New Roman" panose="02020603050405020304" pitchFamily="18" charset="0"/>
              </a:rPr>
              <a:t>- Il est donc </a:t>
            </a:r>
            <a:r>
              <a:rPr lang="fr-FR" b="1" i="0" dirty="0">
                <a:solidFill>
                  <a:schemeClr val="accent5">
                    <a:lumMod val="50000"/>
                  </a:schemeClr>
                </a:solidFill>
                <a:effectLst/>
                <a:latin typeface="Times New Roman" panose="02020603050405020304" pitchFamily="18" charset="0"/>
                <a:cs typeface="Times New Roman" panose="02020603050405020304" pitchFamily="18" charset="0"/>
              </a:rPr>
              <a:t>pertinent</a:t>
            </a:r>
            <a:r>
              <a:rPr lang="fr-FR" b="0" i="0" dirty="0">
                <a:solidFill>
                  <a:schemeClr val="accent5">
                    <a:lumMod val="50000"/>
                  </a:schemeClr>
                </a:solidFill>
                <a:effectLst/>
                <a:latin typeface="Times New Roman" panose="02020603050405020304" pitchFamily="18" charset="0"/>
                <a:cs typeface="Times New Roman" panose="02020603050405020304" pitchFamily="18" charset="0"/>
              </a:rPr>
              <a:t> et nécessaire de mettre en place une application plus performante, adaptée au contexte local, offrant un suivi temps réel</a:t>
            </a:r>
            <a:r>
              <a:rPr lang="fr-FR" dirty="0">
                <a:solidFill>
                  <a:schemeClr val="accent5">
                    <a:lumMod val="50000"/>
                  </a:schemeClr>
                </a:solidFill>
                <a:latin typeface="Times New Roman" panose="02020603050405020304" pitchFamily="18" charset="0"/>
                <a:cs typeface="Times New Roman" panose="02020603050405020304" pitchFamily="18" charset="0"/>
              </a:rPr>
              <a:t> </a:t>
            </a:r>
            <a:r>
              <a:rPr lang="fr-FR" b="0" i="0" dirty="0">
                <a:solidFill>
                  <a:schemeClr val="accent5">
                    <a:lumMod val="50000"/>
                  </a:schemeClr>
                </a:solidFill>
                <a:effectLst/>
                <a:latin typeface="Times New Roman" panose="02020603050405020304" pitchFamily="18" charset="0"/>
                <a:cs typeface="Times New Roman" panose="02020603050405020304" pitchFamily="18" charset="0"/>
              </a:rPr>
              <a:t>et des outils d’aide à la décision pour sécuriser la chaîne d’approvisionnement pharmaceutique.​</a:t>
            </a:r>
          </a:p>
        </p:txBody>
      </p:sp>
    </p:spTree>
    <p:extLst>
      <p:ext uri="{BB962C8B-B14F-4D97-AF65-F5344CB8AC3E}">
        <p14:creationId xmlns:p14="http://schemas.microsoft.com/office/powerpoint/2010/main" val="17807759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349C40AD-576A-684C-F2A7-83973C226806}"/>
              </a:ext>
            </a:extLst>
          </p:cNvPr>
          <p:cNvSpPr txBox="1"/>
          <p:nvPr/>
        </p:nvSpPr>
        <p:spPr>
          <a:xfrm>
            <a:off x="1337617" y="2998927"/>
            <a:ext cx="7905236" cy="3416320"/>
          </a:xfrm>
          <a:prstGeom prst="rect">
            <a:avLst/>
          </a:prstGeom>
          <a:noFill/>
        </p:spPr>
        <p:txBody>
          <a:bodyPr wrap="square">
            <a:spAutoFit/>
          </a:bodyPr>
          <a:lstStyle/>
          <a:p>
            <a:pPr marL="285750" indent="-285750">
              <a:buFontTx/>
              <a:buChar char="-"/>
            </a:pPr>
            <a:r>
              <a:rPr lang="fr-FR" dirty="0">
                <a:solidFill>
                  <a:schemeClr val="accent5">
                    <a:lumMod val="50000"/>
                  </a:schemeClr>
                </a:solidFill>
                <a:latin typeface="Times New Roman" panose="02020603050405020304" pitchFamily="18" charset="0"/>
                <a:cs typeface="Times New Roman" panose="02020603050405020304" pitchFamily="18" charset="0"/>
              </a:rPr>
              <a:t>Mettre en place une </a:t>
            </a:r>
            <a:r>
              <a:rPr lang="fr-FR" b="1" dirty="0">
                <a:solidFill>
                  <a:schemeClr val="accent5">
                    <a:lumMod val="50000"/>
                  </a:schemeClr>
                </a:solidFill>
                <a:latin typeface="Times New Roman" panose="02020603050405020304" pitchFamily="18" charset="0"/>
                <a:cs typeface="Times New Roman" panose="02020603050405020304" pitchFamily="18" charset="0"/>
              </a:rPr>
              <a:t>gestion du stock en temps réel</a:t>
            </a:r>
            <a:r>
              <a:rPr lang="fr-FR" dirty="0">
                <a:solidFill>
                  <a:schemeClr val="accent5">
                    <a:lumMod val="50000"/>
                  </a:schemeClr>
                </a:solidFill>
                <a:latin typeface="Times New Roman" panose="02020603050405020304" pitchFamily="18" charset="0"/>
                <a:cs typeface="Times New Roman" panose="02020603050405020304" pitchFamily="18" charset="0"/>
              </a:rPr>
              <a:t>, avec des alertes automatiques sur les produits en sous-stock ou proches de la date de péremption.</a:t>
            </a:r>
          </a:p>
          <a:p>
            <a:pPr marL="285750" indent="-285750">
              <a:buFontTx/>
              <a:buChar char="-"/>
            </a:pPr>
            <a:r>
              <a:rPr lang="fr-FR" dirty="0">
                <a:solidFill>
                  <a:schemeClr val="accent5">
                    <a:lumMod val="50000"/>
                  </a:schemeClr>
                </a:solidFill>
                <a:latin typeface="Times New Roman" panose="02020603050405020304" pitchFamily="18" charset="0"/>
                <a:cs typeface="Times New Roman" panose="02020603050405020304" pitchFamily="18" charset="0"/>
              </a:rPr>
              <a:t>Identifier chaque produit par son numéro de lot, sa date de péremption et son fournisseur (Achat ou Don),….</a:t>
            </a:r>
          </a:p>
          <a:p>
            <a:r>
              <a:rPr lang="fr-FR" dirty="0">
                <a:solidFill>
                  <a:schemeClr val="accent5">
                    <a:lumMod val="50000"/>
                  </a:schemeClr>
                </a:solidFill>
                <a:latin typeface="Times New Roman" panose="02020603050405020304" pitchFamily="18" charset="0"/>
                <a:cs typeface="Times New Roman" panose="02020603050405020304" pitchFamily="18" charset="0"/>
              </a:rPr>
              <a:t>- Intégrer un </a:t>
            </a:r>
            <a:r>
              <a:rPr lang="fr-FR" b="1" dirty="0">
                <a:solidFill>
                  <a:schemeClr val="accent5">
                    <a:lumMod val="50000"/>
                  </a:schemeClr>
                </a:solidFill>
                <a:latin typeface="Times New Roman" panose="02020603050405020304" pitchFamily="18" charset="0"/>
                <a:cs typeface="Times New Roman" panose="02020603050405020304" pitchFamily="18" charset="0"/>
              </a:rPr>
              <a:t>tableau de bord dynamique</a:t>
            </a:r>
            <a:r>
              <a:rPr lang="fr-FR" dirty="0">
                <a:solidFill>
                  <a:schemeClr val="accent5">
                    <a:lumMod val="50000"/>
                  </a:schemeClr>
                </a:solidFill>
                <a:latin typeface="Times New Roman" panose="02020603050405020304" pitchFamily="18" charset="0"/>
                <a:cs typeface="Times New Roman" panose="02020603050405020304" pitchFamily="18" charset="0"/>
              </a:rPr>
              <a:t> affichant :</a:t>
            </a:r>
          </a:p>
          <a:p>
            <a:pPr lvl="1"/>
            <a:r>
              <a:rPr lang="fr-FR" dirty="0">
                <a:solidFill>
                  <a:schemeClr val="accent5">
                    <a:lumMod val="50000"/>
                  </a:schemeClr>
                </a:solidFill>
                <a:latin typeface="Times New Roman" panose="02020603050405020304" pitchFamily="18" charset="0"/>
                <a:cs typeface="Times New Roman" panose="02020603050405020304" pitchFamily="18" charset="0"/>
              </a:rPr>
              <a:t>le classement des produits les plus sortis,</a:t>
            </a:r>
          </a:p>
          <a:p>
            <a:pPr lvl="1"/>
            <a:r>
              <a:rPr lang="fr-FR" dirty="0">
                <a:solidFill>
                  <a:schemeClr val="accent5">
                    <a:lumMod val="50000"/>
                  </a:schemeClr>
                </a:solidFill>
                <a:latin typeface="Times New Roman" panose="02020603050405020304" pitchFamily="18" charset="0"/>
                <a:cs typeface="Times New Roman" panose="02020603050405020304" pitchFamily="18" charset="0"/>
              </a:rPr>
              <a:t>les points de vente ayant la plus forte demande,</a:t>
            </a:r>
          </a:p>
          <a:p>
            <a:pPr lvl="1"/>
            <a:r>
              <a:rPr lang="fr-FR" dirty="0">
                <a:solidFill>
                  <a:schemeClr val="accent5">
                    <a:lumMod val="50000"/>
                  </a:schemeClr>
                </a:solidFill>
                <a:latin typeface="Times New Roman" panose="02020603050405020304" pitchFamily="18" charset="0"/>
                <a:cs typeface="Times New Roman" panose="02020603050405020304" pitchFamily="18" charset="0"/>
              </a:rPr>
              <a:t>et un </a:t>
            </a:r>
            <a:r>
              <a:rPr lang="fr-FR" b="1" dirty="0">
                <a:solidFill>
                  <a:schemeClr val="accent5">
                    <a:lumMod val="50000"/>
                  </a:schemeClr>
                </a:solidFill>
                <a:latin typeface="Times New Roman" panose="02020603050405020304" pitchFamily="18" charset="0"/>
                <a:cs typeface="Times New Roman" panose="02020603050405020304" pitchFamily="18" charset="0"/>
              </a:rPr>
              <a:t>bilan financier périodique</a:t>
            </a:r>
            <a:r>
              <a:rPr lang="fr-FR" dirty="0">
                <a:solidFill>
                  <a:schemeClr val="accent5">
                    <a:lumMod val="50000"/>
                  </a:schemeClr>
                </a:solidFill>
                <a:latin typeface="Times New Roman" panose="02020603050405020304" pitchFamily="18" charset="0"/>
                <a:cs typeface="Times New Roman" panose="02020603050405020304" pitchFamily="18" charset="0"/>
              </a:rPr>
              <a:t> détaillant les recettes par service.</a:t>
            </a:r>
          </a:p>
          <a:p>
            <a:r>
              <a:rPr lang="fr-FR" dirty="0">
                <a:solidFill>
                  <a:schemeClr val="accent5">
                    <a:lumMod val="50000"/>
                  </a:schemeClr>
                </a:solidFill>
                <a:latin typeface="Times New Roman" panose="02020603050405020304" pitchFamily="18" charset="0"/>
                <a:cs typeface="Times New Roman" panose="02020603050405020304" pitchFamily="18" charset="0"/>
              </a:rPr>
              <a:t>- Optimiser les performances et offrir une </a:t>
            </a:r>
            <a:r>
              <a:rPr lang="fr-FR" b="1" dirty="0">
                <a:solidFill>
                  <a:schemeClr val="accent5">
                    <a:lumMod val="50000"/>
                  </a:schemeClr>
                </a:solidFill>
                <a:latin typeface="Times New Roman" panose="02020603050405020304" pitchFamily="18" charset="0"/>
                <a:cs typeface="Times New Roman" panose="02020603050405020304" pitchFamily="18" charset="0"/>
              </a:rPr>
              <a:t>interface ergonomique</a:t>
            </a:r>
            <a:r>
              <a:rPr lang="fr-FR" dirty="0">
                <a:solidFill>
                  <a:schemeClr val="accent5">
                    <a:lumMod val="50000"/>
                  </a:schemeClr>
                </a:solidFill>
                <a:latin typeface="Times New Roman" panose="02020603050405020304" pitchFamily="18" charset="0"/>
                <a:cs typeface="Times New Roman" panose="02020603050405020304" pitchFamily="18" charset="0"/>
              </a:rPr>
              <a:t>, facile d’utilisation</a:t>
            </a:r>
          </a:p>
          <a:p>
            <a:r>
              <a:rPr lang="fr-FR" dirty="0">
                <a:solidFill>
                  <a:schemeClr val="accent5">
                    <a:lumMod val="50000"/>
                  </a:schemeClr>
                </a:solidFill>
                <a:latin typeface="Times New Roman" panose="02020603050405020304" pitchFamily="18" charset="0"/>
                <a:cs typeface="Times New Roman" panose="02020603050405020304" pitchFamily="18" charset="0"/>
              </a:rPr>
              <a:t>- Mettre en place un module d'inventaire permettant de confronter le stock théorique (logiciel) au stock physique (réel).</a:t>
            </a:r>
          </a:p>
        </p:txBody>
      </p:sp>
      <p:sp>
        <p:nvSpPr>
          <p:cNvPr id="17" name="TextBox 16">
            <a:extLst>
              <a:ext uri="{FF2B5EF4-FFF2-40B4-BE49-F238E27FC236}">
                <a16:creationId xmlns:a16="http://schemas.microsoft.com/office/drawing/2014/main" id="{2E2E4968-B098-161D-C963-0840C445D697}"/>
              </a:ext>
            </a:extLst>
          </p:cNvPr>
          <p:cNvSpPr txBox="1"/>
          <p:nvPr/>
        </p:nvSpPr>
        <p:spPr>
          <a:xfrm>
            <a:off x="3047485" y="140641"/>
            <a:ext cx="3963430" cy="461665"/>
          </a:xfrm>
          <a:prstGeom prst="rect">
            <a:avLst/>
          </a:prstGeom>
          <a:noFill/>
        </p:spPr>
        <p:txBody>
          <a:bodyPr wrap="square">
            <a:spAutoFit/>
          </a:bodyPr>
          <a:lstStyle/>
          <a:p>
            <a:r>
              <a:rPr lang="fr-FR" sz="2400" b="1" dirty="0">
                <a:latin typeface="Times New Roman" panose="02020603050405020304" pitchFamily="18" charset="0"/>
                <a:cs typeface="Times New Roman" panose="02020603050405020304" pitchFamily="18" charset="0"/>
              </a:rPr>
              <a:t>OBJECTIFS DU PROJET</a:t>
            </a:r>
          </a:p>
        </p:txBody>
      </p:sp>
      <p:sp>
        <p:nvSpPr>
          <p:cNvPr id="19" name="TextBox 18">
            <a:extLst>
              <a:ext uri="{FF2B5EF4-FFF2-40B4-BE49-F238E27FC236}">
                <a16:creationId xmlns:a16="http://schemas.microsoft.com/office/drawing/2014/main" id="{BA64186F-EA33-4775-50DB-E2CFA4E7BA6E}"/>
              </a:ext>
            </a:extLst>
          </p:cNvPr>
          <p:cNvSpPr txBox="1"/>
          <p:nvPr/>
        </p:nvSpPr>
        <p:spPr>
          <a:xfrm>
            <a:off x="1337617" y="1033241"/>
            <a:ext cx="7797113" cy="1477328"/>
          </a:xfrm>
          <a:prstGeom prst="rect">
            <a:avLst/>
          </a:prstGeom>
          <a:noFill/>
        </p:spPr>
        <p:txBody>
          <a:bodyPr wrap="square">
            <a:spAutoFit/>
          </a:bodyPr>
          <a:lstStyle/>
          <a:p>
            <a:r>
              <a:rPr lang="fr-FR" dirty="0">
                <a:solidFill>
                  <a:schemeClr val="accent5">
                    <a:lumMod val="50000"/>
                  </a:schemeClr>
                </a:solidFill>
                <a:latin typeface="Times New Roman" panose="02020603050405020304" pitchFamily="18" charset="0"/>
                <a:cs typeface="Times New Roman" panose="02020603050405020304" pitchFamily="18" charset="0"/>
              </a:rPr>
              <a:t>Ce projet vise à </a:t>
            </a:r>
            <a:r>
              <a:rPr lang="fr-FR" b="1" dirty="0">
                <a:solidFill>
                  <a:schemeClr val="accent5">
                    <a:lumMod val="50000"/>
                  </a:schemeClr>
                </a:solidFill>
                <a:latin typeface="Times New Roman" panose="02020603050405020304" pitchFamily="18" charset="0"/>
                <a:cs typeface="Times New Roman" panose="02020603050405020304" pitchFamily="18" charset="0"/>
              </a:rPr>
              <a:t>concevoir une application plus performante, intuitive et décisionnelle</a:t>
            </a:r>
            <a:r>
              <a:rPr lang="fr-FR" dirty="0">
                <a:solidFill>
                  <a:schemeClr val="accent5">
                    <a:lumMod val="50000"/>
                  </a:schemeClr>
                </a:solidFill>
                <a:latin typeface="Times New Roman" panose="02020603050405020304" pitchFamily="18" charset="0"/>
                <a:cs typeface="Times New Roman" panose="02020603050405020304" pitchFamily="18" charset="0"/>
              </a:rPr>
              <a:t>, de gestion de stock pharmaceutique, adaptée au fonctionnement de la pharmacie hospitalière de l’Hôpital </a:t>
            </a:r>
            <a:r>
              <a:rPr lang="fr-FR" dirty="0" err="1">
                <a:solidFill>
                  <a:schemeClr val="accent5">
                    <a:lumMod val="50000"/>
                  </a:schemeClr>
                </a:solidFill>
                <a:latin typeface="Times New Roman" panose="02020603050405020304" pitchFamily="18" charset="0"/>
                <a:cs typeface="Times New Roman" panose="02020603050405020304" pitchFamily="18" charset="0"/>
              </a:rPr>
              <a:t>Laquintinie</a:t>
            </a:r>
            <a:r>
              <a:rPr lang="fr-FR" dirty="0">
                <a:solidFill>
                  <a:schemeClr val="accent5">
                    <a:lumMod val="50000"/>
                  </a:schemeClr>
                </a:solidFill>
                <a:latin typeface="Times New Roman" panose="02020603050405020304" pitchFamily="18" charset="0"/>
                <a:cs typeface="Times New Roman" panose="02020603050405020304" pitchFamily="18" charset="0"/>
              </a:rPr>
              <a:t> permettant d'automatiser le suivi des stocks, depuis l'entrée en pharmacie central jusqu'à la dispensation aux points de vente.</a:t>
            </a:r>
          </a:p>
        </p:txBody>
      </p:sp>
      <p:sp>
        <p:nvSpPr>
          <p:cNvPr id="21" name="TextBox 20">
            <a:extLst>
              <a:ext uri="{FF2B5EF4-FFF2-40B4-BE49-F238E27FC236}">
                <a16:creationId xmlns:a16="http://schemas.microsoft.com/office/drawing/2014/main" id="{9B6CEFD9-5B93-DF33-F493-2D3A307B4B3F}"/>
              </a:ext>
            </a:extLst>
          </p:cNvPr>
          <p:cNvSpPr txBox="1"/>
          <p:nvPr/>
        </p:nvSpPr>
        <p:spPr>
          <a:xfrm>
            <a:off x="3453713" y="740572"/>
            <a:ext cx="3150973" cy="400110"/>
          </a:xfrm>
          <a:prstGeom prst="rect">
            <a:avLst/>
          </a:prstGeom>
          <a:noFill/>
        </p:spPr>
        <p:txBody>
          <a:bodyPr wrap="square">
            <a:spAutoFit/>
          </a:bodyPr>
          <a:lstStyle/>
          <a:p>
            <a:r>
              <a:rPr lang="fr-FR" sz="2000" b="1" dirty="0">
                <a:latin typeface="Times New Roman" panose="02020603050405020304" pitchFamily="18" charset="0"/>
                <a:cs typeface="Times New Roman" panose="02020603050405020304" pitchFamily="18" charset="0"/>
              </a:rPr>
              <a:t>OBJECTIF GÉNÉRAL</a:t>
            </a:r>
            <a:endParaRPr lang="fr-FR" sz="2000" dirty="0">
              <a:solidFill>
                <a:schemeClr val="accent5">
                  <a:lumMod val="50000"/>
                </a:schemeClr>
              </a:solidFill>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id="{C72D3064-ECAB-59AF-A6ED-CFE2F465EA14}"/>
              </a:ext>
            </a:extLst>
          </p:cNvPr>
          <p:cNvSpPr txBox="1"/>
          <p:nvPr/>
        </p:nvSpPr>
        <p:spPr>
          <a:xfrm>
            <a:off x="3354858" y="2732813"/>
            <a:ext cx="3762633" cy="400110"/>
          </a:xfrm>
          <a:prstGeom prst="rect">
            <a:avLst/>
          </a:prstGeom>
          <a:noFill/>
        </p:spPr>
        <p:txBody>
          <a:bodyPr wrap="square">
            <a:spAutoFit/>
          </a:bodyPr>
          <a:lstStyle/>
          <a:p>
            <a:r>
              <a:rPr lang="fr-FR" sz="2000" b="1" dirty="0">
                <a:latin typeface="Times New Roman" panose="02020603050405020304" pitchFamily="18" charset="0"/>
                <a:cs typeface="Times New Roman" panose="02020603050405020304" pitchFamily="18" charset="0"/>
              </a:rPr>
              <a:t>OBJECTIFS SPÉCIFIQUES</a:t>
            </a:r>
          </a:p>
        </p:txBody>
      </p:sp>
    </p:spTree>
    <p:extLst>
      <p:ext uri="{BB962C8B-B14F-4D97-AF65-F5344CB8AC3E}">
        <p14:creationId xmlns:p14="http://schemas.microsoft.com/office/powerpoint/2010/main" val="42145015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4AA665C4-4724-453F-EB06-B57FD25F0853}"/>
              </a:ext>
            </a:extLst>
          </p:cNvPr>
          <p:cNvSpPr txBox="1"/>
          <p:nvPr/>
        </p:nvSpPr>
        <p:spPr>
          <a:xfrm>
            <a:off x="2150076" y="971719"/>
            <a:ext cx="7043351" cy="461665"/>
          </a:xfrm>
          <a:prstGeom prst="rect">
            <a:avLst/>
          </a:prstGeom>
          <a:noFill/>
        </p:spPr>
        <p:txBody>
          <a:bodyPr wrap="square">
            <a:spAutoFit/>
          </a:bodyPr>
          <a:lstStyle/>
          <a:p>
            <a:r>
              <a:rPr lang="fr-FR" sz="2400" b="1" dirty="0">
                <a:latin typeface="Times New Roman" panose="02020603050405020304" pitchFamily="18" charset="0"/>
                <a:cs typeface="Times New Roman" panose="02020603050405020304" pitchFamily="18" charset="0"/>
              </a:rPr>
              <a:t>Architecture Technique et Choix des Technologiques</a:t>
            </a:r>
            <a:endParaRPr lang="en-US" sz="2400" b="1"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C622195E-34A1-7AB6-3534-9CD288FEFDC7}"/>
              </a:ext>
            </a:extLst>
          </p:cNvPr>
          <p:cNvSpPr txBox="1"/>
          <p:nvPr/>
        </p:nvSpPr>
        <p:spPr>
          <a:xfrm>
            <a:off x="1495167" y="1698368"/>
            <a:ext cx="7537621" cy="3416320"/>
          </a:xfrm>
          <a:prstGeom prst="rect">
            <a:avLst/>
          </a:prstGeom>
          <a:noFill/>
        </p:spPr>
        <p:txBody>
          <a:bodyPr wrap="square">
            <a:spAutoFit/>
          </a:bodyPr>
          <a:lstStyle/>
          <a:p>
            <a:pPr marL="285750" indent="-285750">
              <a:buFontTx/>
              <a:buChar char="-"/>
            </a:pPr>
            <a:r>
              <a:rPr lang="fr-FR" b="1" dirty="0">
                <a:solidFill>
                  <a:schemeClr val="accent5">
                    <a:lumMod val="50000"/>
                  </a:schemeClr>
                </a:solidFill>
                <a:latin typeface="Times New Roman" panose="02020603050405020304" pitchFamily="18" charset="0"/>
                <a:cs typeface="Times New Roman" panose="02020603050405020304" pitchFamily="18" charset="0"/>
              </a:rPr>
              <a:t>Environnement de Développement :</a:t>
            </a:r>
            <a:r>
              <a:rPr lang="fr-FR" dirty="0">
                <a:solidFill>
                  <a:schemeClr val="accent5">
                    <a:lumMod val="50000"/>
                  </a:schemeClr>
                </a:solidFill>
                <a:latin typeface="Times New Roman" panose="02020603050405020304" pitchFamily="18" charset="0"/>
                <a:cs typeface="Times New Roman" panose="02020603050405020304" pitchFamily="18" charset="0"/>
              </a:rPr>
              <a:t> </a:t>
            </a:r>
            <a:r>
              <a:rPr lang="fr-FR" b="1" dirty="0">
                <a:solidFill>
                  <a:schemeClr val="accent5">
                    <a:lumMod val="50000"/>
                  </a:schemeClr>
                </a:solidFill>
                <a:latin typeface="Times New Roman" panose="02020603050405020304" pitchFamily="18" charset="0"/>
                <a:cs typeface="Times New Roman" panose="02020603050405020304" pitchFamily="18" charset="0"/>
              </a:rPr>
              <a:t>XAMPP :</a:t>
            </a:r>
            <a:r>
              <a:rPr lang="fr-FR" dirty="0">
                <a:solidFill>
                  <a:schemeClr val="accent5">
                    <a:lumMod val="50000"/>
                  </a:schemeClr>
                </a:solidFill>
                <a:latin typeface="Times New Roman" panose="02020603050405020304" pitchFamily="18" charset="0"/>
                <a:cs typeface="Times New Roman" panose="02020603050405020304" pitchFamily="18" charset="0"/>
              </a:rPr>
              <a:t> Serveur local incluant Apache et MySQL</a:t>
            </a:r>
          </a:p>
          <a:p>
            <a:pPr marL="285750" indent="-285750">
              <a:buFontTx/>
              <a:buChar char="-"/>
            </a:pPr>
            <a:r>
              <a:rPr lang="fr-FR" b="1" dirty="0">
                <a:solidFill>
                  <a:schemeClr val="accent5">
                    <a:lumMod val="50000"/>
                  </a:schemeClr>
                </a:solidFill>
                <a:latin typeface="Times New Roman" panose="02020603050405020304" pitchFamily="18" charset="0"/>
                <a:cs typeface="Times New Roman" panose="02020603050405020304" pitchFamily="18" charset="0"/>
              </a:rPr>
              <a:t>Environnement de codage : VS Code </a:t>
            </a:r>
          </a:p>
          <a:p>
            <a:pPr marL="285750" indent="-285750">
              <a:buFontTx/>
              <a:buChar char="-"/>
            </a:pPr>
            <a:r>
              <a:rPr lang="fr-FR" b="1" dirty="0">
                <a:solidFill>
                  <a:schemeClr val="accent5">
                    <a:lumMod val="50000"/>
                  </a:schemeClr>
                </a:solidFill>
                <a:latin typeface="Times New Roman" panose="02020603050405020304" pitchFamily="18" charset="0"/>
                <a:cs typeface="Times New Roman" panose="02020603050405020304" pitchFamily="18" charset="0"/>
              </a:rPr>
              <a:t>Technologies Backend:</a:t>
            </a:r>
            <a:endParaRPr lang="fr-FR" dirty="0">
              <a:solidFill>
                <a:schemeClr val="accent5">
                  <a:lumMod val="50000"/>
                </a:schemeClr>
              </a:solidFill>
              <a:latin typeface="Times New Roman" panose="02020603050405020304" pitchFamily="18" charset="0"/>
              <a:cs typeface="Times New Roman" panose="02020603050405020304" pitchFamily="18" charset="0"/>
            </a:endParaRPr>
          </a:p>
          <a:p>
            <a:pPr lvl="1"/>
            <a:r>
              <a:rPr lang="fr-FR" b="1" dirty="0">
                <a:solidFill>
                  <a:schemeClr val="accent5">
                    <a:lumMod val="50000"/>
                  </a:schemeClr>
                </a:solidFill>
                <a:latin typeface="Times New Roman" panose="02020603050405020304" pitchFamily="18" charset="0"/>
                <a:cs typeface="Times New Roman" panose="02020603050405020304" pitchFamily="18" charset="0"/>
              </a:rPr>
              <a:t>PHP 8.2 :</a:t>
            </a:r>
            <a:r>
              <a:rPr lang="fr-FR" dirty="0">
                <a:solidFill>
                  <a:schemeClr val="accent5">
                    <a:lumMod val="50000"/>
                  </a:schemeClr>
                </a:solidFill>
                <a:latin typeface="Times New Roman" panose="02020603050405020304" pitchFamily="18" charset="0"/>
                <a:cs typeface="Times New Roman" panose="02020603050405020304" pitchFamily="18" charset="0"/>
              </a:rPr>
              <a:t> Langage serveur pour la logique métier (gestion des stocks, calculs d'écarts, sécurité,…).</a:t>
            </a:r>
          </a:p>
          <a:p>
            <a:pPr lvl="1"/>
            <a:r>
              <a:rPr lang="fr-FR" b="1" dirty="0">
                <a:solidFill>
                  <a:schemeClr val="accent5">
                    <a:lumMod val="50000"/>
                  </a:schemeClr>
                </a:solidFill>
                <a:latin typeface="Times New Roman" panose="02020603050405020304" pitchFamily="18" charset="0"/>
                <a:cs typeface="Times New Roman" panose="02020603050405020304" pitchFamily="18" charset="0"/>
              </a:rPr>
              <a:t>MySQL (</a:t>
            </a:r>
            <a:r>
              <a:rPr lang="fr-FR" b="1" dirty="0" err="1">
                <a:solidFill>
                  <a:schemeClr val="accent5">
                    <a:lumMod val="50000"/>
                  </a:schemeClr>
                </a:solidFill>
                <a:latin typeface="Times New Roman" panose="02020603050405020304" pitchFamily="18" charset="0"/>
                <a:cs typeface="Times New Roman" panose="02020603050405020304" pitchFamily="18" charset="0"/>
              </a:rPr>
              <a:t>MariaDB</a:t>
            </a:r>
            <a:r>
              <a:rPr lang="fr-FR" b="1" dirty="0">
                <a:solidFill>
                  <a:schemeClr val="accent5">
                    <a:lumMod val="50000"/>
                  </a:schemeClr>
                </a:solidFill>
                <a:latin typeface="Times New Roman" panose="02020603050405020304" pitchFamily="18" charset="0"/>
                <a:cs typeface="Times New Roman" panose="02020603050405020304" pitchFamily="18" charset="0"/>
              </a:rPr>
              <a:t>) :</a:t>
            </a:r>
            <a:r>
              <a:rPr lang="fr-FR" dirty="0">
                <a:solidFill>
                  <a:schemeClr val="accent5">
                    <a:lumMod val="50000"/>
                  </a:schemeClr>
                </a:solidFill>
                <a:latin typeface="Times New Roman" panose="02020603050405020304" pitchFamily="18" charset="0"/>
                <a:cs typeface="Times New Roman" panose="02020603050405020304" pitchFamily="18" charset="0"/>
              </a:rPr>
              <a:t> Système de gestion de base de données relationnelle pour la persistance des données.</a:t>
            </a:r>
          </a:p>
          <a:p>
            <a:r>
              <a:rPr lang="fr-FR" b="1" dirty="0">
                <a:solidFill>
                  <a:schemeClr val="accent5">
                    <a:lumMod val="50000"/>
                  </a:schemeClr>
                </a:solidFill>
                <a:latin typeface="Times New Roman" panose="02020603050405020304" pitchFamily="18" charset="0"/>
                <a:cs typeface="Times New Roman" panose="02020603050405020304" pitchFamily="18" charset="0"/>
              </a:rPr>
              <a:t>- Technologies Frontend:</a:t>
            </a:r>
            <a:endParaRPr lang="fr-FR" dirty="0">
              <a:solidFill>
                <a:schemeClr val="accent5">
                  <a:lumMod val="50000"/>
                </a:schemeClr>
              </a:solidFill>
              <a:latin typeface="Times New Roman" panose="02020603050405020304" pitchFamily="18" charset="0"/>
              <a:cs typeface="Times New Roman" panose="02020603050405020304" pitchFamily="18" charset="0"/>
            </a:endParaRPr>
          </a:p>
          <a:p>
            <a:pPr lvl="1"/>
            <a:r>
              <a:rPr lang="fr-FR" b="1" dirty="0">
                <a:solidFill>
                  <a:schemeClr val="accent5">
                    <a:lumMod val="50000"/>
                  </a:schemeClr>
                </a:solidFill>
                <a:latin typeface="Times New Roman" panose="02020603050405020304" pitchFamily="18" charset="0"/>
                <a:cs typeface="Times New Roman" panose="02020603050405020304" pitchFamily="18" charset="0"/>
              </a:rPr>
              <a:t>HTML5 / CSS3 :</a:t>
            </a:r>
            <a:r>
              <a:rPr lang="fr-FR" dirty="0">
                <a:solidFill>
                  <a:schemeClr val="accent5">
                    <a:lumMod val="50000"/>
                  </a:schemeClr>
                </a:solidFill>
                <a:latin typeface="Times New Roman" panose="02020603050405020304" pitchFamily="18" charset="0"/>
                <a:cs typeface="Times New Roman" panose="02020603050405020304" pitchFamily="18" charset="0"/>
              </a:rPr>
              <a:t> Structuration et design de l'interface utilisateur.</a:t>
            </a:r>
          </a:p>
          <a:p>
            <a:pPr lvl="1"/>
            <a:r>
              <a:rPr lang="fr-FR" b="1" dirty="0">
                <a:solidFill>
                  <a:schemeClr val="accent5">
                    <a:lumMod val="50000"/>
                  </a:schemeClr>
                </a:solidFill>
                <a:latin typeface="Times New Roman" panose="02020603050405020304" pitchFamily="18" charset="0"/>
                <a:cs typeface="Times New Roman" panose="02020603050405020304" pitchFamily="18" charset="0"/>
              </a:rPr>
              <a:t>JavaScript :</a:t>
            </a:r>
            <a:r>
              <a:rPr lang="fr-FR" dirty="0">
                <a:solidFill>
                  <a:schemeClr val="accent5">
                    <a:lumMod val="50000"/>
                  </a:schemeClr>
                </a:solidFill>
                <a:latin typeface="Times New Roman" panose="02020603050405020304" pitchFamily="18" charset="0"/>
                <a:cs typeface="Times New Roman" panose="02020603050405020304" pitchFamily="18" charset="0"/>
              </a:rPr>
              <a:t> Pour l'interactivité (alertes en temps réel, calculs dynamiques,…).</a:t>
            </a:r>
          </a:p>
        </p:txBody>
      </p:sp>
    </p:spTree>
    <p:extLst>
      <p:ext uri="{BB962C8B-B14F-4D97-AF65-F5344CB8AC3E}">
        <p14:creationId xmlns:p14="http://schemas.microsoft.com/office/powerpoint/2010/main" val="36564905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E2C7243-0801-ADEA-CF27-6E820199EA40}"/>
              </a:ext>
            </a:extLst>
          </p:cNvPr>
          <p:cNvSpPr txBox="1"/>
          <p:nvPr/>
        </p:nvSpPr>
        <p:spPr>
          <a:xfrm>
            <a:off x="2533135" y="82043"/>
            <a:ext cx="6697361" cy="523220"/>
          </a:xfrm>
          <a:prstGeom prst="rect">
            <a:avLst/>
          </a:prstGeom>
          <a:noFill/>
        </p:spPr>
        <p:txBody>
          <a:bodyPr wrap="square">
            <a:spAutoFit/>
          </a:bodyPr>
          <a:lstStyle/>
          <a:p>
            <a:r>
              <a:rPr lang="fr-FR" sz="2800" b="1" dirty="0">
                <a:latin typeface="Times New Roman" panose="02020603050405020304" pitchFamily="18" charset="0"/>
                <a:cs typeface="Times New Roman" panose="02020603050405020304" pitchFamily="18" charset="0"/>
              </a:rPr>
              <a:t>Conception de la Base de Données (UML)</a:t>
            </a:r>
            <a:endParaRPr lang="en-US" sz="28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F5A83AA8-7719-0C69-7D73-1F219F162E7B}"/>
              </a:ext>
            </a:extLst>
          </p:cNvPr>
          <p:cNvSpPr txBox="1"/>
          <p:nvPr/>
        </p:nvSpPr>
        <p:spPr>
          <a:xfrm>
            <a:off x="673980" y="952598"/>
            <a:ext cx="8710439" cy="5201424"/>
          </a:xfrm>
          <a:prstGeom prst="rect">
            <a:avLst/>
          </a:prstGeom>
          <a:noFill/>
        </p:spPr>
        <p:txBody>
          <a:bodyPr wrap="square">
            <a:spAutoFit/>
          </a:bodyPr>
          <a:lstStyle/>
          <a:p>
            <a:pPr algn="ctr"/>
            <a:r>
              <a:rPr lang="fr-FR" sz="2000" b="1" dirty="0">
                <a:latin typeface="Times New Roman" panose="02020603050405020304" pitchFamily="18" charset="0"/>
                <a:cs typeface="Times New Roman" panose="02020603050405020304" pitchFamily="18" charset="0"/>
              </a:rPr>
              <a:t>Modélisation des Classes</a:t>
            </a:r>
            <a:endParaRPr lang="fr-FR" sz="2000" dirty="0">
              <a:latin typeface="Times New Roman" panose="02020603050405020304" pitchFamily="18" charset="0"/>
              <a:cs typeface="Times New Roman" panose="02020603050405020304" pitchFamily="18" charset="0"/>
            </a:endParaRPr>
          </a:p>
          <a:p>
            <a:pPr lvl="1" algn="just"/>
            <a:r>
              <a:rPr lang="fr-FR" b="1" dirty="0">
                <a:solidFill>
                  <a:schemeClr val="accent5">
                    <a:lumMod val="50000"/>
                  </a:schemeClr>
                </a:solidFill>
                <a:latin typeface="Times New Roman" panose="02020603050405020304" pitchFamily="18" charset="0"/>
                <a:cs typeface="Times New Roman" panose="02020603050405020304" pitchFamily="18" charset="0"/>
              </a:rPr>
              <a:t>Produit &amp; Catégorie :</a:t>
            </a:r>
            <a:r>
              <a:rPr lang="fr-FR" dirty="0">
                <a:solidFill>
                  <a:schemeClr val="accent5">
                    <a:lumMod val="50000"/>
                  </a:schemeClr>
                </a:solidFill>
                <a:latin typeface="Times New Roman" panose="02020603050405020304" pitchFamily="18" charset="0"/>
                <a:cs typeface="Times New Roman" panose="02020603050405020304" pitchFamily="18" charset="0"/>
              </a:rPr>
              <a:t> Typage strict des articles (Médicaments vs Consommables Labo).</a:t>
            </a:r>
          </a:p>
          <a:p>
            <a:pPr lvl="1" algn="just"/>
            <a:r>
              <a:rPr lang="fr-FR" b="1" dirty="0">
                <a:solidFill>
                  <a:schemeClr val="accent5">
                    <a:lumMod val="50000"/>
                  </a:schemeClr>
                </a:solidFill>
                <a:latin typeface="Times New Roman" panose="02020603050405020304" pitchFamily="18" charset="0"/>
                <a:cs typeface="Times New Roman" panose="02020603050405020304" pitchFamily="18" charset="0"/>
              </a:rPr>
              <a:t>Gestion par Lots :</a:t>
            </a:r>
            <a:r>
              <a:rPr lang="fr-FR" dirty="0">
                <a:solidFill>
                  <a:schemeClr val="accent5">
                    <a:lumMod val="50000"/>
                  </a:schemeClr>
                </a:solidFill>
                <a:latin typeface="Times New Roman" panose="02020603050405020304" pitchFamily="18" charset="0"/>
                <a:cs typeface="Times New Roman" panose="02020603050405020304" pitchFamily="18" charset="0"/>
              </a:rPr>
              <a:t> Classe centrale permettant de différencier les stocks selon la date d'expiration et le fournisseur.</a:t>
            </a:r>
          </a:p>
          <a:p>
            <a:pPr algn="just"/>
            <a:r>
              <a:rPr lang="fr-FR" b="1" dirty="0">
                <a:solidFill>
                  <a:schemeClr val="accent5">
                    <a:lumMod val="50000"/>
                  </a:schemeClr>
                </a:solidFill>
                <a:latin typeface="Times New Roman" panose="02020603050405020304" pitchFamily="18" charset="0"/>
                <a:cs typeface="Times New Roman" panose="02020603050405020304" pitchFamily="18" charset="0"/>
              </a:rPr>
              <a:t>	Gestion de la Provenance (Sources) :</a:t>
            </a:r>
            <a:r>
              <a:rPr lang="fr-FR" dirty="0">
                <a:solidFill>
                  <a:schemeClr val="accent5">
                    <a:lumMod val="50000"/>
                  </a:schemeClr>
                </a:solidFill>
                <a:latin typeface="Times New Roman" panose="02020603050405020304" pitchFamily="18" charset="0"/>
                <a:cs typeface="Times New Roman" panose="02020603050405020304" pitchFamily="18" charset="0"/>
              </a:rPr>
              <a:t>	Distinction native entre les </a:t>
            </a:r>
            <a:r>
              <a:rPr lang="fr-FR" b="1" dirty="0">
                <a:solidFill>
                  <a:schemeClr val="accent5">
                    <a:lumMod val="50000"/>
                  </a:schemeClr>
                </a:solidFill>
                <a:latin typeface="Times New Roman" panose="02020603050405020304" pitchFamily="18" charset="0"/>
                <a:cs typeface="Times New Roman" panose="02020603050405020304" pitchFamily="18" charset="0"/>
              </a:rPr>
              <a:t>Achats</a:t>
            </a:r>
            <a:r>
              <a:rPr lang="fr-FR" dirty="0">
                <a:solidFill>
                  <a:schemeClr val="accent5">
                    <a:lumMod val="50000"/>
                  </a:schemeClr>
                </a:solidFill>
                <a:latin typeface="Times New Roman" panose="02020603050405020304" pitchFamily="18" charset="0"/>
                <a:cs typeface="Times New Roman" panose="02020603050405020304" pitchFamily="18" charset="0"/>
              </a:rPr>
              <a:t> et les </a:t>
            </a:r>
            <a:r>
              <a:rPr lang="fr-FR" b="1" dirty="0">
                <a:solidFill>
                  <a:schemeClr val="accent5">
                    <a:lumMod val="50000"/>
                  </a:schemeClr>
                </a:solidFill>
                <a:latin typeface="Times New Roman" panose="02020603050405020304" pitchFamily="18" charset="0"/>
                <a:cs typeface="Times New Roman" panose="02020603050405020304" pitchFamily="18" charset="0"/>
              </a:rPr>
              <a:t>Dons</a:t>
            </a:r>
            <a:endParaRPr lang="fr-FR" dirty="0">
              <a:solidFill>
                <a:schemeClr val="accent5">
                  <a:lumMod val="50000"/>
                </a:schemeClr>
              </a:solidFill>
              <a:latin typeface="Times New Roman" panose="02020603050405020304" pitchFamily="18" charset="0"/>
              <a:cs typeface="Times New Roman" panose="02020603050405020304" pitchFamily="18" charset="0"/>
            </a:endParaRPr>
          </a:p>
          <a:p>
            <a:pPr lvl="1" algn="just"/>
            <a:r>
              <a:rPr lang="fr-FR" b="1" dirty="0">
                <a:solidFill>
                  <a:schemeClr val="accent5">
                    <a:lumMod val="50000"/>
                  </a:schemeClr>
                </a:solidFill>
                <a:latin typeface="Times New Roman" panose="02020603050405020304" pitchFamily="18" charset="0"/>
                <a:cs typeface="Times New Roman" panose="02020603050405020304" pitchFamily="18" charset="0"/>
              </a:rPr>
              <a:t>Utilisateur &amp; Rôles :</a:t>
            </a:r>
            <a:r>
              <a:rPr lang="fr-FR" dirty="0">
                <a:solidFill>
                  <a:schemeClr val="accent5">
                    <a:lumMod val="50000"/>
                  </a:schemeClr>
                </a:solidFill>
                <a:latin typeface="Times New Roman" panose="02020603050405020304" pitchFamily="18" charset="0"/>
                <a:cs typeface="Times New Roman" panose="02020603050405020304" pitchFamily="18" charset="0"/>
              </a:rPr>
              <a:t> Contrôle d'Accès Natif : La classe Utilisateur embarque directement l'énumération </a:t>
            </a:r>
            <a:r>
              <a:rPr lang="fr-FR" dirty="0" err="1">
                <a:solidFill>
                  <a:schemeClr val="accent5">
                    <a:lumMod val="50000"/>
                  </a:schemeClr>
                </a:solidFill>
                <a:latin typeface="Times New Roman" panose="02020603050405020304" pitchFamily="18" charset="0"/>
                <a:cs typeface="Times New Roman" panose="02020603050405020304" pitchFamily="18" charset="0"/>
              </a:rPr>
              <a:t>role</a:t>
            </a:r>
            <a:r>
              <a:rPr lang="fr-FR" dirty="0">
                <a:solidFill>
                  <a:schemeClr val="accent5">
                    <a:lumMod val="50000"/>
                  </a:schemeClr>
                </a:solidFill>
                <a:latin typeface="Times New Roman" panose="02020603050405020304" pitchFamily="18" charset="0"/>
                <a:cs typeface="Times New Roman" panose="02020603050405020304" pitchFamily="18" charset="0"/>
              </a:rPr>
              <a:t> (admin/user), permettant de restreindre les opérations sensibles (validation de commande,…)</a:t>
            </a:r>
          </a:p>
          <a:p>
            <a:pPr lvl="1" algn="just"/>
            <a:endParaRPr lang="fr-FR" sz="800" dirty="0">
              <a:solidFill>
                <a:schemeClr val="accent5">
                  <a:lumMod val="50000"/>
                </a:schemeClr>
              </a:solidFill>
              <a:latin typeface="Times New Roman" panose="02020603050405020304" pitchFamily="18" charset="0"/>
              <a:cs typeface="Times New Roman" panose="02020603050405020304" pitchFamily="18" charset="0"/>
            </a:endParaRPr>
          </a:p>
          <a:p>
            <a:pPr lvl="1" algn="ctr"/>
            <a:r>
              <a:rPr lang="fr-FR" b="1" dirty="0">
                <a:solidFill>
                  <a:schemeClr val="accent5">
                    <a:lumMod val="50000"/>
                  </a:schemeClr>
                </a:solidFill>
                <a:latin typeface="Times New Roman" panose="02020603050405020304" pitchFamily="18" charset="0"/>
                <a:cs typeface="Times New Roman" panose="02020603050405020304" pitchFamily="18" charset="0"/>
              </a:rPr>
              <a:t>Associations et Multiplicités</a:t>
            </a:r>
            <a:endParaRPr lang="fr-FR" dirty="0">
              <a:solidFill>
                <a:schemeClr val="accent5">
                  <a:lumMod val="50000"/>
                </a:schemeClr>
              </a:solidFill>
              <a:latin typeface="Times New Roman" panose="02020603050405020304" pitchFamily="18" charset="0"/>
              <a:cs typeface="Times New Roman" panose="02020603050405020304" pitchFamily="18" charset="0"/>
            </a:endParaRPr>
          </a:p>
          <a:p>
            <a:pPr lvl="1" algn="just"/>
            <a:r>
              <a:rPr lang="fr-FR" b="1" dirty="0">
                <a:solidFill>
                  <a:schemeClr val="accent5">
                    <a:lumMod val="50000"/>
                  </a:schemeClr>
                </a:solidFill>
                <a:latin typeface="Times New Roman" panose="02020603050405020304" pitchFamily="18" charset="0"/>
                <a:cs typeface="Times New Roman" panose="02020603050405020304" pitchFamily="18" charset="0"/>
              </a:rPr>
              <a:t>Traçabilité des Flux :</a:t>
            </a:r>
            <a:r>
              <a:rPr lang="fr-FR" dirty="0">
                <a:solidFill>
                  <a:schemeClr val="accent5">
                    <a:lumMod val="50000"/>
                  </a:schemeClr>
                </a:solidFill>
                <a:latin typeface="Times New Roman" panose="02020603050405020304" pitchFamily="18" charset="0"/>
                <a:cs typeface="Times New Roman" panose="02020603050405020304" pitchFamily="18" charset="0"/>
              </a:rPr>
              <a:t> Relation entre les Lots et les Sorties vers les Points de Vente (Urgences, </a:t>
            </a:r>
            <a:r>
              <a:rPr lang="fr-FR" dirty="0" err="1">
                <a:solidFill>
                  <a:schemeClr val="accent5">
                    <a:lumMod val="50000"/>
                  </a:schemeClr>
                </a:solidFill>
                <a:latin typeface="Times New Roman" panose="02020603050405020304" pitchFamily="18" charset="0"/>
                <a:cs typeface="Times New Roman" panose="02020603050405020304" pitchFamily="18" charset="0"/>
              </a:rPr>
              <a:t>Bétote</a:t>
            </a:r>
            <a:r>
              <a:rPr lang="fr-FR" dirty="0">
                <a:solidFill>
                  <a:schemeClr val="accent5">
                    <a:lumMod val="50000"/>
                  </a:schemeClr>
                </a:solidFill>
                <a:latin typeface="Times New Roman" panose="02020603050405020304" pitchFamily="18" charset="0"/>
                <a:cs typeface="Times New Roman" panose="02020603050405020304" pitchFamily="18" charset="0"/>
              </a:rPr>
              <a:t>, etc.).</a:t>
            </a:r>
          </a:p>
          <a:p>
            <a:pPr lvl="1" algn="just"/>
            <a:r>
              <a:rPr lang="fr-FR" b="1" dirty="0">
                <a:solidFill>
                  <a:schemeClr val="accent5">
                    <a:lumMod val="50000"/>
                  </a:schemeClr>
                </a:solidFill>
                <a:latin typeface="Times New Roman" panose="02020603050405020304" pitchFamily="18" charset="0"/>
                <a:cs typeface="Times New Roman" panose="02020603050405020304" pitchFamily="18" charset="0"/>
              </a:rPr>
              <a:t>Responsabilité :</a:t>
            </a:r>
            <a:r>
              <a:rPr lang="fr-FR" dirty="0">
                <a:solidFill>
                  <a:schemeClr val="accent5">
                    <a:lumMod val="50000"/>
                  </a:schemeClr>
                </a:solidFill>
                <a:latin typeface="Times New Roman" panose="02020603050405020304" pitchFamily="18" charset="0"/>
                <a:cs typeface="Times New Roman" panose="02020603050405020304" pitchFamily="18" charset="0"/>
              </a:rPr>
              <a:t> Association de chaque mouvement (Inventaire, Sortie) à un Utilisateur (Admin/User).</a:t>
            </a:r>
          </a:p>
          <a:p>
            <a:pPr algn="just"/>
            <a:r>
              <a:rPr lang="fr-FR" b="1" dirty="0">
                <a:solidFill>
                  <a:schemeClr val="accent5">
                    <a:lumMod val="50000"/>
                  </a:schemeClr>
                </a:solidFill>
                <a:latin typeface="Times New Roman" panose="02020603050405020304" pitchFamily="18" charset="0"/>
                <a:cs typeface="Times New Roman" panose="02020603050405020304" pitchFamily="18" charset="0"/>
              </a:rPr>
              <a:t>	Commande &amp; Partenaire :</a:t>
            </a:r>
            <a:r>
              <a:rPr lang="fr-FR" dirty="0">
                <a:solidFill>
                  <a:schemeClr val="accent5">
                    <a:lumMod val="50000"/>
                  </a:schemeClr>
                </a:solidFill>
                <a:latin typeface="Times New Roman" panose="02020603050405020304" pitchFamily="18" charset="0"/>
                <a:cs typeface="Times New Roman" panose="02020603050405020304" pitchFamily="18" charset="0"/>
              </a:rPr>
              <a:t> Une Commande est liée à 	exactement un Partenaire, 	mais un Partenaire peut être à l'origine de plusieurs 	commandes dans le temps 	permettant 	de retracer l'historique complet des 	approvisionnements par 	fournisseur ou donateur.</a:t>
            </a:r>
            <a:endParaRPr lang="fr-FR" b="1" dirty="0">
              <a:solidFill>
                <a:schemeClr val="accent5">
                  <a:lumMod val="50000"/>
                </a:schemeClr>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E36C8EE4-19B7-0B74-F853-4F14240D75F5}"/>
              </a:ext>
            </a:extLst>
          </p:cNvPr>
          <p:cNvSpPr txBox="1"/>
          <p:nvPr/>
        </p:nvSpPr>
        <p:spPr>
          <a:xfrm>
            <a:off x="2520780" y="548286"/>
            <a:ext cx="6697361" cy="461665"/>
          </a:xfrm>
          <a:prstGeom prst="rect">
            <a:avLst/>
          </a:prstGeom>
          <a:noFill/>
        </p:spPr>
        <p:txBody>
          <a:bodyPr wrap="square">
            <a:spAutoFit/>
          </a:bodyPr>
          <a:lstStyle/>
          <a:p>
            <a:pPr>
              <a:buNone/>
            </a:pPr>
            <a:r>
              <a:rPr lang="fr-FR" sz="2400" b="1" dirty="0">
                <a:latin typeface="Times New Roman" panose="02020603050405020304" pitchFamily="18" charset="0"/>
                <a:cs typeface="Times New Roman" panose="02020603050405020304" pitchFamily="18" charset="0"/>
              </a:rPr>
              <a:t>Architecture des classes et intégrité relationnelle</a:t>
            </a:r>
          </a:p>
        </p:txBody>
      </p:sp>
    </p:spTree>
    <p:extLst>
      <p:ext uri="{BB962C8B-B14F-4D97-AF65-F5344CB8AC3E}">
        <p14:creationId xmlns:p14="http://schemas.microsoft.com/office/powerpoint/2010/main" val="36243302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E59F7CA5-4724-9851-9C25-07A37EA277E1}"/>
              </a:ext>
            </a:extLst>
          </p:cNvPr>
          <p:cNvSpPr txBox="1"/>
          <p:nvPr/>
        </p:nvSpPr>
        <p:spPr>
          <a:xfrm>
            <a:off x="2903838" y="192215"/>
            <a:ext cx="6138561" cy="461665"/>
          </a:xfrm>
          <a:prstGeom prst="rect">
            <a:avLst/>
          </a:prstGeom>
          <a:noFill/>
        </p:spPr>
        <p:txBody>
          <a:bodyPr wrap="square">
            <a:spAutoFit/>
          </a:bodyPr>
          <a:lstStyle/>
          <a:p>
            <a:pPr>
              <a:buNone/>
            </a:pPr>
            <a:r>
              <a:rPr lang="fr-FR" sz="2400" b="1" dirty="0">
                <a:latin typeface="Times New Roman" panose="02020603050405020304" pitchFamily="18" charset="0"/>
                <a:cs typeface="Times New Roman" panose="02020603050405020304" pitchFamily="18" charset="0"/>
              </a:rPr>
              <a:t>Processus Métiers et Flux de Données</a:t>
            </a:r>
          </a:p>
        </p:txBody>
      </p:sp>
      <p:sp>
        <p:nvSpPr>
          <p:cNvPr id="15" name="TextBox 14">
            <a:extLst>
              <a:ext uri="{FF2B5EF4-FFF2-40B4-BE49-F238E27FC236}">
                <a16:creationId xmlns:a16="http://schemas.microsoft.com/office/drawing/2014/main" id="{6E7FE607-96C2-67E7-2372-7D50EEDC1206}"/>
              </a:ext>
            </a:extLst>
          </p:cNvPr>
          <p:cNvSpPr txBox="1"/>
          <p:nvPr/>
        </p:nvSpPr>
        <p:spPr>
          <a:xfrm>
            <a:off x="1104901" y="1064394"/>
            <a:ext cx="4025899" cy="2246769"/>
          </a:xfrm>
          <a:prstGeom prst="rect">
            <a:avLst/>
          </a:prstGeom>
          <a:noFill/>
        </p:spPr>
        <p:txBody>
          <a:bodyPr wrap="square">
            <a:spAutoFit/>
          </a:bodyPr>
          <a:lstStyle/>
          <a:p>
            <a:pPr>
              <a:buNone/>
            </a:pPr>
            <a:r>
              <a:rPr lang="fr-FR" sz="2000" b="1" dirty="0" err="1">
                <a:latin typeface="Times New Roman" panose="02020603050405020304" pitchFamily="18" charset="0"/>
                <a:cs typeface="Times New Roman" panose="02020603050405020304" pitchFamily="18" charset="0"/>
              </a:rPr>
              <a:t>Approvissionnement</a:t>
            </a:r>
            <a:endParaRPr lang="fr-FR" sz="2000" b="1" dirty="0">
              <a:latin typeface="Times New Roman" panose="02020603050405020304" pitchFamily="18" charset="0"/>
              <a:cs typeface="Times New Roman" panose="02020603050405020304" pitchFamily="18" charset="0"/>
            </a:endParaRPr>
          </a:p>
          <a:p>
            <a:pPr>
              <a:buNone/>
            </a:pPr>
            <a:endParaRPr lang="fr-FR" sz="1050" b="1" dirty="0">
              <a:latin typeface="Times New Roman" panose="02020603050405020304" pitchFamily="18" charset="0"/>
              <a:cs typeface="Times New Roman" panose="02020603050405020304" pitchFamily="18" charset="0"/>
            </a:endParaRPr>
          </a:p>
          <a:p>
            <a:pPr marL="342900" indent="-342900">
              <a:buAutoNum type="arabicParenR"/>
            </a:pPr>
            <a:r>
              <a:rPr lang="fr-FR" dirty="0" err="1">
                <a:solidFill>
                  <a:schemeClr val="accent5">
                    <a:lumMod val="50000"/>
                  </a:schemeClr>
                </a:solidFill>
                <a:latin typeface="Times New Roman" panose="02020603050405020304" pitchFamily="18" charset="0"/>
                <a:cs typeface="Times New Roman" panose="02020603050405020304" pitchFamily="18" charset="0"/>
              </a:rPr>
              <a:t>Séle</a:t>
            </a:r>
            <a:r>
              <a:rPr lang="en-US" dirty="0" err="1">
                <a:solidFill>
                  <a:schemeClr val="accent5">
                    <a:lumMod val="50000"/>
                  </a:schemeClr>
                </a:solidFill>
                <a:latin typeface="Times New Roman" panose="02020603050405020304" pitchFamily="18" charset="0"/>
                <a:cs typeface="Times New Roman" panose="02020603050405020304" pitchFamily="18" charset="0"/>
              </a:rPr>
              <a:t>ction</a:t>
            </a:r>
            <a:r>
              <a:rPr lang="en-US" dirty="0">
                <a:solidFill>
                  <a:schemeClr val="accent5">
                    <a:lumMod val="50000"/>
                  </a:schemeClr>
                </a:solidFill>
                <a:latin typeface="Times New Roman" panose="02020603050405020304" pitchFamily="18" charset="0"/>
                <a:cs typeface="Times New Roman" panose="02020603050405020304" pitchFamily="18" charset="0"/>
              </a:rPr>
              <a:t> du </a:t>
            </a:r>
            <a:r>
              <a:rPr lang="en-US" dirty="0" err="1">
                <a:solidFill>
                  <a:schemeClr val="accent5">
                    <a:lumMod val="50000"/>
                  </a:schemeClr>
                </a:solidFill>
                <a:latin typeface="Times New Roman" panose="02020603050405020304" pitchFamily="18" charset="0"/>
                <a:cs typeface="Times New Roman" panose="02020603050405020304" pitchFamily="18" charset="0"/>
              </a:rPr>
              <a:t>Partenaire</a:t>
            </a:r>
            <a:r>
              <a:rPr lang="en-US" dirty="0">
                <a:solidFill>
                  <a:schemeClr val="accent5">
                    <a:lumMod val="50000"/>
                  </a:schemeClr>
                </a:solidFill>
                <a:latin typeface="Times New Roman" panose="02020603050405020304" pitchFamily="18" charset="0"/>
                <a:cs typeface="Times New Roman" panose="02020603050405020304" pitchFamily="18" charset="0"/>
              </a:rPr>
              <a:t>(</a:t>
            </a:r>
            <a:r>
              <a:rPr lang="en-US" dirty="0" err="1">
                <a:solidFill>
                  <a:schemeClr val="accent5">
                    <a:lumMod val="50000"/>
                  </a:schemeClr>
                </a:solidFill>
                <a:latin typeface="Times New Roman" panose="02020603050405020304" pitchFamily="18" charset="0"/>
                <a:cs typeface="Times New Roman" panose="02020603050405020304" pitchFamily="18" charset="0"/>
              </a:rPr>
              <a:t>Fournisseur</a:t>
            </a:r>
            <a:r>
              <a:rPr lang="en-US" dirty="0">
                <a:solidFill>
                  <a:schemeClr val="accent5">
                    <a:lumMod val="50000"/>
                  </a:schemeClr>
                </a:solidFill>
                <a:latin typeface="Times New Roman" panose="02020603050405020304" pitchFamily="18" charset="0"/>
                <a:cs typeface="Times New Roman" panose="02020603050405020304" pitchFamily="18" charset="0"/>
              </a:rPr>
              <a:t> </a:t>
            </a:r>
            <a:r>
              <a:rPr lang="en-US" dirty="0" err="1">
                <a:solidFill>
                  <a:schemeClr val="accent5">
                    <a:lumMod val="50000"/>
                  </a:schemeClr>
                </a:solidFill>
                <a:latin typeface="Times New Roman" panose="02020603050405020304" pitchFamily="18" charset="0"/>
                <a:cs typeface="Times New Roman" panose="02020603050405020304" pitchFamily="18" charset="0"/>
              </a:rPr>
              <a:t>ou</a:t>
            </a:r>
            <a:r>
              <a:rPr lang="en-US" dirty="0">
                <a:solidFill>
                  <a:schemeClr val="accent5">
                    <a:lumMod val="50000"/>
                  </a:schemeClr>
                </a:solidFill>
                <a:latin typeface="Times New Roman" panose="02020603050405020304" pitchFamily="18" charset="0"/>
                <a:cs typeface="Times New Roman" panose="02020603050405020304" pitchFamily="18" charset="0"/>
              </a:rPr>
              <a:t> </a:t>
            </a:r>
            <a:r>
              <a:rPr lang="en-US" dirty="0" err="1">
                <a:solidFill>
                  <a:schemeClr val="accent5">
                    <a:lumMod val="50000"/>
                  </a:schemeClr>
                </a:solidFill>
                <a:latin typeface="Times New Roman" panose="02020603050405020304" pitchFamily="18" charset="0"/>
                <a:cs typeface="Times New Roman" panose="02020603050405020304" pitchFamily="18" charset="0"/>
              </a:rPr>
              <a:t>Donateur</a:t>
            </a:r>
            <a:r>
              <a:rPr lang="en-US" dirty="0">
                <a:solidFill>
                  <a:schemeClr val="accent5">
                    <a:lumMod val="50000"/>
                  </a:schemeClr>
                </a:solidFill>
                <a:latin typeface="Times New Roman" panose="02020603050405020304" pitchFamily="18" charset="0"/>
                <a:cs typeface="Times New Roman" panose="02020603050405020304" pitchFamily="18" charset="0"/>
              </a:rPr>
              <a:t>)</a:t>
            </a:r>
          </a:p>
          <a:p>
            <a:pPr marL="342900" indent="-342900">
              <a:buAutoNum type="arabicParenR"/>
            </a:pPr>
            <a:r>
              <a:rPr lang="en-US" dirty="0">
                <a:solidFill>
                  <a:schemeClr val="accent5">
                    <a:lumMod val="50000"/>
                  </a:schemeClr>
                </a:solidFill>
                <a:latin typeface="Times New Roman" panose="02020603050405020304" pitchFamily="18" charset="0"/>
                <a:cs typeface="Times New Roman" panose="02020603050405020304" pitchFamily="18" charset="0"/>
              </a:rPr>
              <a:t>Cr</a:t>
            </a:r>
            <a:r>
              <a:rPr lang="fr-FR" dirty="0">
                <a:solidFill>
                  <a:schemeClr val="accent5">
                    <a:lumMod val="50000"/>
                  </a:schemeClr>
                </a:solidFill>
                <a:latin typeface="Times New Roman" panose="02020603050405020304" pitchFamily="18" charset="0"/>
                <a:cs typeface="Times New Roman" panose="02020603050405020304" pitchFamily="18" charset="0"/>
              </a:rPr>
              <a:t>é</a:t>
            </a:r>
            <a:r>
              <a:rPr lang="en-US" dirty="0" err="1">
                <a:solidFill>
                  <a:schemeClr val="accent5">
                    <a:lumMod val="50000"/>
                  </a:schemeClr>
                </a:solidFill>
                <a:latin typeface="Times New Roman" panose="02020603050405020304" pitchFamily="18" charset="0"/>
                <a:cs typeface="Times New Roman" panose="02020603050405020304" pitchFamily="18" charset="0"/>
              </a:rPr>
              <a:t>ation</a:t>
            </a:r>
            <a:r>
              <a:rPr lang="en-US" dirty="0">
                <a:solidFill>
                  <a:schemeClr val="accent5">
                    <a:lumMod val="50000"/>
                  </a:schemeClr>
                </a:solidFill>
                <a:latin typeface="Times New Roman" panose="02020603050405020304" pitchFamily="18" charset="0"/>
                <a:cs typeface="Times New Roman" panose="02020603050405020304" pitchFamily="18" charset="0"/>
              </a:rPr>
              <a:t> de la </a:t>
            </a:r>
            <a:r>
              <a:rPr lang="en-US" dirty="0" err="1">
                <a:solidFill>
                  <a:schemeClr val="accent5">
                    <a:lumMod val="50000"/>
                  </a:schemeClr>
                </a:solidFill>
                <a:latin typeface="Times New Roman" panose="02020603050405020304" pitchFamily="18" charset="0"/>
                <a:cs typeface="Times New Roman" panose="02020603050405020304" pitchFamily="18" charset="0"/>
              </a:rPr>
              <a:t>Commande</a:t>
            </a:r>
            <a:endParaRPr lang="en-US" dirty="0">
              <a:solidFill>
                <a:schemeClr val="accent5">
                  <a:lumMod val="50000"/>
                </a:schemeClr>
              </a:solidFill>
              <a:latin typeface="Times New Roman" panose="02020603050405020304" pitchFamily="18" charset="0"/>
              <a:cs typeface="Times New Roman" panose="02020603050405020304" pitchFamily="18" charset="0"/>
            </a:endParaRPr>
          </a:p>
          <a:p>
            <a:pPr marL="342900" indent="-342900">
              <a:buAutoNum type="arabicParenR"/>
            </a:pPr>
            <a:r>
              <a:rPr lang="en-US" dirty="0">
                <a:solidFill>
                  <a:schemeClr val="accent5">
                    <a:lumMod val="50000"/>
                  </a:schemeClr>
                </a:solidFill>
                <a:latin typeface="Times New Roman" panose="02020603050405020304" pitchFamily="18" charset="0"/>
                <a:cs typeface="Times New Roman" panose="02020603050405020304" pitchFamily="18" charset="0"/>
              </a:rPr>
              <a:t>R</a:t>
            </a:r>
            <a:r>
              <a:rPr lang="fr-FR" dirty="0" err="1">
                <a:solidFill>
                  <a:schemeClr val="accent5">
                    <a:lumMod val="50000"/>
                  </a:schemeClr>
                </a:solidFill>
                <a:latin typeface="Times New Roman" panose="02020603050405020304" pitchFamily="18" charset="0"/>
                <a:cs typeface="Times New Roman" panose="02020603050405020304" pitchFamily="18" charset="0"/>
              </a:rPr>
              <a:t>éception</a:t>
            </a:r>
            <a:r>
              <a:rPr lang="fr-FR" dirty="0">
                <a:solidFill>
                  <a:schemeClr val="accent5">
                    <a:lumMod val="50000"/>
                  </a:schemeClr>
                </a:solidFill>
                <a:latin typeface="Times New Roman" panose="02020603050405020304" pitchFamily="18" charset="0"/>
                <a:cs typeface="Times New Roman" panose="02020603050405020304" pitchFamily="18" charset="0"/>
              </a:rPr>
              <a:t> &amp; Validation</a:t>
            </a:r>
          </a:p>
          <a:p>
            <a:pPr marL="342900" indent="-342900">
              <a:buAutoNum type="arabicParenR"/>
            </a:pPr>
            <a:r>
              <a:rPr lang="fr-FR" dirty="0" err="1">
                <a:solidFill>
                  <a:schemeClr val="accent5">
                    <a:lumMod val="50000"/>
                  </a:schemeClr>
                </a:solidFill>
                <a:latin typeface="Times New Roman" panose="02020603050405020304" pitchFamily="18" charset="0"/>
                <a:cs typeface="Times New Roman" panose="02020603050405020304" pitchFamily="18" charset="0"/>
              </a:rPr>
              <a:t>Enregistrament</a:t>
            </a:r>
            <a:r>
              <a:rPr lang="fr-FR" dirty="0">
                <a:solidFill>
                  <a:schemeClr val="accent5">
                    <a:lumMod val="50000"/>
                  </a:schemeClr>
                </a:solidFill>
                <a:latin typeface="Times New Roman" panose="02020603050405020304" pitchFamily="18" charset="0"/>
                <a:cs typeface="Times New Roman" panose="02020603050405020304" pitchFamily="18" charset="0"/>
              </a:rPr>
              <a:t> du lot</a:t>
            </a:r>
          </a:p>
          <a:p>
            <a:pPr marL="342900" indent="-342900">
              <a:buAutoNum type="arabicParenR"/>
            </a:pPr>
            <a:r>
              <a:rPr lang="fr-FR" dirty="0">
                <a:solidFill>
                  <a:schemeClr val="accent5">
                    <a:lumMod val="50000"/>
                  </a:schemeClr>
                </a:solidFill>
                <a:latin typeface="Times New Roman" panose="02020603050405020304" pitchFamily="18" charset="0"/>
                <a:cs typeface="Times New Roman" panose="02020603050405020304" pitchFamily="18" charset="0"/>
              </a:rPr>
              <a:t>Mise a jour du stock</a:t>
            </a:r>
          </a:p>
        </p:txBody>
      </p:sp>
      <p:sp>
        <p:nvSpPr>
          <p:cNvPr id="16" name="TextBox 15">
            <a:extLst>
              <a:ext uri="{FF2B5EF4-FFF2-40B4-BE49-F238E27FC236}">
                <a16:creationId xmlns:a16="http://schemas.microsoft.com/office/drawing/2014/main" id="{31BFB08D-3528-980F-6B2A-11DB35B50724}"/>
              </a:ext>
            </a:extLst>
          </p:cNvPr>
          <p:cNvSpPr txBox="1"/>
          <p:nvPr/>
        </p:nvSpPr>
        <p:spPr>
          <a:xfrm>
            <a:off x="5156200" y="1064394"/>
            <a:ext cx="4119263" cy="2523768"/>
          </a:xfrm>
          <a:prstGeom prst="rect">
            <a:avLst/>
          </a:prstGeom>
          <a:noFill/>
        </p:spPr>
        <p:txBody>
          <a:bodyPr wrap="square">
            <a:spAutoFit/>
          </a:bodyPr>
          <a:lstStyle/>
          <a:p>
            <a:pPr>
              <a:buNone/>
            </a:pPr>
            <a:r>
              <a:rPr lang="fr-FR" sz="2000" b="1" dirty="0">
                <a:latin typeface="Times New Roman" panose="02020603050405020304" pitchFamily="18" charset="0"/>
                <a:cs typeface="Times New Roman" panose="02020603050405020304" pitchFamily="18" charset="0"/>
              </a:rPr>
              <a:t>Distribution Interne</a:t>
            </a:r>
          </a:p>
          <a:p>
            <a:pPr>
              <a:buNone/>
            </a:pPr>
            <a:endParaRPr lang="fr-FR" sz="1050" b="1" dirty="0">
              <a:latin typeface="Times New Roman" panose="02020603050405020304" pitchFamily="18" charset="0"/>
              <a:cs typeface="Times New Roman" panose="02020603050405020304" pitchFamily="18" charset="0"/>
            </a:endParaRPr>
          </a:p>
          <a:p>
            <a:pPr marL="342900" indent="-342900">
              <a:buAutoNum type="arabicParenR"/>
            </a:pPr>
            <a:r>
              <a:rPr lang="en-US" dirty="0" err="1">
                <a:solidFill>
                  <a:schemeClr val="accent5">
                    <a:lumMod val="50000"/>
                  </a:schemeClr>
                </a:solidFill>
                <a:latin typeface="Times New Roman" panose="02020603050405020304" pitchFamily="18" charset="0"/>
                <a:cs typeface="Times New Roman" panose="02020603050405020304" pitchFamily="18" charset="0"/>
              </a:rPr>
              <a:t>Demande</a:t>
            </a:r>
            <a:r>
              <a:rPr lang="en-US" dirty="0">
                <a:solidFill>
                  <a:schemeClr val="accent5">
                    <a:lumMod val="50000"/>
                  </a:schemeClr>
                </a:solidFill>
                <a:latin typeface="Times New Roman" panose="02020603050405020304" pitchFamily="18" charset="0"/>
                <a:cs typeface="Times New Roman" panose="02020603050405020304" pitchFamily="18" charset="0"/>
              </a:rPr>
              <a:t> du service par Bon de </a:t>
            </a:r>
            <a:r>
              <a:rPr lang="en-US" dirty="0" err="1">
                <a:solidFill>
                  <a:schemeClr val="accent5">
                    <a:lumMod val="50000"/>
                  </a:schemeClr>
                </a:solidFill>
                <a:latin typeface="Times New Roman" panose="02020603050405020304" pitchFamily="18" charset="0"/>
                <a:cs typeface="Times New Roman" panose="02020603050405020304" pitchFamily="18" charset="0"/>
              </a:rPr>
              <a:t>commande</a:t>
            </a:r>
            <a:endParaRPr lang="en-US" dirty="0">
              <a:solidFill>
                <a:schemeClr val="accent5">
                  <a:lumMod val="50000"/>
                </a:schemeClr>
              </a:solidFill>
              <a:latin typeface="Times New Roman" panose="02020603050405020304" pitchFamily="18" charset="0"/>
              <a:cs typeface="Times New Roman" panose="02020603050405020304" pitchFamily="18" charset="0"/>
            </a:endParaRPr>
          </a:p>
          <a:p>
            <a:pPr marL="342900" indent="-342900">
              <a:buAutoNum type="arabicParenR"/>
            </a:pPr>
            <a:r>
              <a:rPr lang="en-US" dirty="0">
                <a:solidFill>
                  <a:schemeClr val="accent5">
                    <a:lumMod val="50000"/>
                  </a:schemeClr>
                </a:solidFill>
                <a:latin typeface="Times New Roman" panose="02020603050405020304" pitchFamily="18" charset="0"/>
                <a:cs typeface="Times New Roman" panose="02020603050405020304" pitchFamily="18" charset="0"/>
              </a:rPr>
              <a:t>S</a:t>
            </a:r>
            <a:r>
              <a:rPr lang="fr-FR" dirty="0">
                <a:solidFill>
                  <a:schemeClr val="accent5">
                    <a:lumMod val="50000"/>
                  </a:schemeClr>
                </a:solidFill>
                <a:latin typeface="Times New Roman" panose="02020603050405020304" pitchFamily="18" charset="0"/>
                <a:cs typeface="Times New Roman" panose="02020603050405020304" pitchFamily="18" charset="0"/>
              </a:rPr>
              <a:t>é</a:t>
            </a:r>
            <a:r>
              <a:rPr lang="en-US" dirty="0">
                <a:solidFill>
                  <a:schemeClr val="accent5">
                    <a:lumMod val="50000"/>
                  </a:schemeClr>
                </a:solidFill>
                <a:latin typeface="Times New Roman" panose="02020603050405020304" pitchFamily="18" charset="0"/>
                <a:cs typeface="Times New Roman" panose="02020603050405020304" pitchFamily="18" charset="0"/>
              </a:rPr>
              <a:t>lection des </a:t>
            </a:r>
            <a:r>
              <a:rPr lang="en-US" dirty="0" err="1">
                <a:solidFill>
                  <a:schemeClr val="accent5">
                    <a:lumMod val="50000"/>
                  </a:schemeClr>
                </a:solidFill>
                <a:latin typeface="Times New Roman" panose="02020603050405020304" pitchFamily="18" charset="0"/>
                <a:cs typeface="Times New Roman" panose="02020603050405020304" pitchFamily="18" charset="0"/>
              </a:rPr>
              <a:t>produits</a:t>
            </a:r>
            <a:r>
              <a:rPr lang="en-US" dirty="0">
                <a:solidFill>
                  <a:schemeClr val="accent5">
                    <a:lumMod val="50000"/>
                  </a:schemeClr>
                </a:solidFill>
                <a:latin typeface="Times New Roman" panose="02020603050405020304" pitchFamily="18" charset="0"/>
                <a:cs typeface="Times New Roman" panose="02020603050405020304" pitchFamily="18" charset="0"/>
              </a:rPr>
              <a:t> dans les lots</a:t>
            </a:r>
          </a:p>
          <a:p>
            <a:pPr marL="342900" indent="-342900">
              <a:buAutoNum type="arabicParenR"/>
            </a:pPr>
            <a:r>
              <a:rPr lang="en-US" dirty="0" err="1">
                <a:solidFill>
                  <a:schemeClr val="accent5">
                    <a:lumMod val="50000"/>
                  </a:schemeClr>
                </a:solidFill>
                <a:latin typeface="Times New Roman" panose="02020603050405020304" pitchFamily="18" charset="0"/>
                <a:cs typeface="Times New Roman" panose="02020603050405020304" pitchFamily="18" charset="0"/>
              </a:rPr>
              <a:t>Enregistrement</a:t>
            </a:r>
            <a:r>
              <a:rPr lang="en-US" dirty="0">
                <a:solidFill>
                  <a:schemeClr val="accent5">
                    <a:lumMod val="50000"/>
                  </a:schemeClr>
                </a:solidFill>
                <a:latin typeface="Times New Roman" panose="02020603050405020304" pitchFamily="18" charset="0"/>
                <a:cs typeface="Times New Roman" panose="02020603050405020304" pitchFamily="18" charset="0"/>
              </a:rPr>
              <a:t> du </a:t>
            </a:r>
            <a:r>
              <a:rPr lang="en-US" dirty="0" err="1">
                <a:solidFill>
                  <a:schemeClr val="accent5">
                    <a:lumMod val="50000"/>
                  </a:schemeClr>
                </a:solidFill>
                <a:latin typeface="Times New Roman" panose="02020603050405020304" pitchFamily="18" charset="0"/>
                <a:cs typeface="Times New Roman" panose="02020603050405020304" pitchFamily="18" charset="0"/>
              </a:rPr>
              <a:t>Mouvement</a:t>
            </a:r>
            <a:endParaRPr lang="fr-FR" dirty="0">
              <a:solidFill>
                <a:schemeClr val="accent5">
                  <a:lumMod val="50000"/>
                </a:schemeClr>
              </a:solidFill>
              <a:latin typeface="Times New Roman" panose="02020603050405020304" pitchFamily="18" charset="0"/>
              <a:cs typeface="Times New Roman" panose="02020603050405020304" pitchFamily="18" charset="0"/>
            </a:endParaRPr>
          </a:p>
          <a:p>
            <a:pPr marL="342900" indent="-342900">
              <a:buAutoNum type="arabicParenR"/>
            </a:pPr>
            <a:r>
              <a:rPr lang="fr-FR" dirty="0">
                <a:solidFill>
                  <a:schemeClr val="accent5">
                    <a:lumMod val="50000"/>
                  </a:schemeClr>
                </a:solidFill>
                <a:latin typeface="Times New Roman" panose="02020603050405020304" pitchFamily="18" charset="0"/>
                <a:cs typeface="Times New Roman" panose="02020603050405020304" pitchFamily="18" charset="0"/>
              </a:rPr>
              <a:t>Utilisateur responsable identifié</a:t>
            </a:r>
          </a:p>
          <a:p>
            <a:pPr marL="342900" indent="-342900">
              <a:buAutoNum type="arabicParenR"/>
            </a:pPr>
            <a:r>
              <a:rPr lang="fr-FR" dirty="0" err="1">
                <a:solidFill>
                  <a:schemeClr val="accent5">
                    <a:lumMod val="50000"/>
                  </a:schemeClr>
                </a:solidFill>
                <a:latin typeface="Times New Roman" panose="02020603050405020304" pitchFamily="18" charset="0"/>
                <a:cs typeface="Times New Roman" panose="02020603050405020304" pitchFamily="18" charset="0"/>
              </a:rPr>
              <a:t>Décré</a:t>
            </a:r>
            <a:r>
              <a:rPr lang="en-US" dirty="0">
                <a:solidFill>
                  <a:schemeClr val="accent5">
                    <a:lumMod val="50000"/>
                  </a:schemeClr>
                </a:solidFill>
                <a:latin typeface="Times New Roman" panose="02020603050405020304" pitchFamily="18" charset="0"/>
                <a:cs typeface="Times New Roman" panose="02020603050405020304" pitchFamily="18" charset="0"/>
              </a:rPr>
              <a:t>mentation de la </a:t>
            </a:r>
            <a:r>
              <a:rPr lang="en-US" dirty="0" err="1">
                <a:solidFill>
                  <a:schemeClr val="accent5">
                    <a:lumMod val="50000"/>
                  </a:schemeClr>
                </a:solidFill>
                <a:latin typeface="Times New Roman" panose="02020603050405020304" pitchFamily="18" charset="0"/>
                <a:cs typeface="Times New Roman" panose="02020603050405020304" pitchFamily="18" charset="0"/>
              </a:rPr>
              <a:t>quantit</a:t>
            </a:r>
            <a:r>
              <a:rPr lang="fr-FR" dirty="0">
                <a:solidFill>
                  <a:schemeClr val="accent5">
                    <a:lumMod val="50000"/>
                  </a:schemeClr>
                </a:solidFill>
                <a:latin typeface="Times New Roman" panose="02020603050405020304" pitchFamily="18" charset="0"/>
                <a:cs typeface="Times New Roman" panose="02020603050405020304" pitchFamily="18" charset="0"/>
              </a:rPr>
              <a:t>é</a:t>
            </a:r>
            <a:r>
              <a:rPr lang="en-US" dirty="0">
                <a:solidFill>
                  <a:schemeClr val="accent5">
                    <a:lumMod val="50000"/>
                  </a:schemeClr>
                </a:solidFill>
                <a:latin typeface="Times New Roman" panose="02020603050405020304" pitchFamily="18" charset="0"/>
                <a:cs typeface="Times New Roman" panose="02020603050405020304" pitchFamily="18" charset="0"/>
              </a:rPr>
              <a:t> disponible</a:t>
            </a:r>
            <a:endParaRPr lang="fr-FR" dirty="0">
              <a:solidFill>
                <a:schemeClr val="accent5">
                  <a:lumMod val="50000"/>
                </a:schemeClr>
              </a:solidFill>
              <a:latin typeface="Times New Roman" panose="02020603050405020304" pitchFamily="18" charset="0"/>
              <a:cs typeface="Times New Roman" panose="02020603050405020304" pitchFamily="18" charset="0"/>
            </a:endParaRPr>
          </a:p>
        </p:txBody>
      </p:sp>
      <p:sp>
        <p:nvSpPr>
          <p:cNvPr id="20" name="Rectangle 3">
            <a:extLst>
              <a:ext uri="{FF2B5EF4-FFF2-40B4-BE49-F238E27FC236}">
                <a16:creationId xmlns:a16="http://schemas.microsoft.com/office/drawing/2014/main" id="{41B1013D-B3BF-BEEE-3532-AD6DC98279E4}"/>
              </a:ext>
            </a:extLst>
          </p:cNvPr>
          <p:cNvSpPr>
            <a:spLocks noChangeArrowheads="1"/>
          </p:cNvSpPr>
          <p:nvPr/>
        </p:nvSpPr>
        <p:spPr bwMode="auto">
          <a:xfrm>
            <a:off x="1104900" y="3965100"/>
            <a:ext cx="4025899" cy="216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Inventaire</a:t>
            </a: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5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i="0" u="none" strike="noStrike" cap="none" normalizeH="0" baseline="0" dirty="0" err="1">
                <a:ln>
                  <a:noFill/>
                </a:ln>
                <a:solidFill>
                  <a:schemeClr val="accent5">
                    <a:lumMod val="50000"/>
                  </a:schemeClr>
                </a:solidFill>
                <a:effectLst/>
                <a:latin typeface="Times New Roman" panose="02020603050405020304" pitchFamily="18" charset="0"/>
                <a:cs typeface="Times New Roman" panose="02020603050405020304" pitchFamily="18" charset="0"/>
              </a:rPr>
              <a:t>Ouverture</a:t>
            </a:r>
            <a:r>
              <a:rPr kumimoji="0" lang="en-US" altLang="en-US"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 </a:t>
            </a:r>
            <a:r>
              <a:rPr kumimoji="0" lang="en-US" altLang="en-US" i="0" u="none" strike="noStrike" cap="none" normalizeH="0" baseline="0" dirty="0" err="1">
                <a:ln>
                  <a:noFill/>
                </a:ln>
                <a:solidFill>
                  <a:schemeClr val="accent5">
                    <a:lumMod val="50000"/>
                  </a:schemeClr>
                </a:solidFill>
                <a:effectLst/>
                <a:latin typeface="Times New Roman" panose="02020603050405020304" pitchFamily="18" charset="0"/>
                <a:cs typeface="Times New Roman" panose="02020603050405020304" pitchFamily="18" charset="0"/>
              </a:rPr>
              <a:t>d'une</a:t>
            </a:r>
            <a:r>
              <a:rPr kumimoji="0" lang="en-US" altLang="en-US"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 Session </a:t>
            </a:r>
            <a:r>
              <a:rPr kumimoji="0" lang="en-US" altLang="en-US" i="0" u="none" strike="noStrike" cap="none" normalizeH="0" baseline="0" dirty="0" err="1">
                <a:ln>
                  <a:noFill/>
                </a:ln>
                <a:solidFill>
                  <a:schemeClr val="accent5">
                    <a:lumMod val="50000"/>
                  </a:schemeClr>
                </a:solidFill>
                <a:effectLst/>
                <a:latin typeface="Times New Roman" panose="02020603050405020304" pitchFamily="18" charset="0"/>
                <a:cs typeface="Times New Roman" panose="02020603050405020304" pitchFamily="18" charset="0"/>
              </a:rPr>
              <a:t>d'Inventaire</a:t>
            </a:r>
            <a:endParaRPr kumimoji="0" lang="en-US" altLang="en-US"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i="0" u="none" strike="noStrike" cap="none" normalizeH="0" baseline="0" dirty="0" err="1">
                <a:ln>
                  <a:noFill/>
                </a:ln>
                <a:solidFill>
                  <a:schemeClr val="accent5">
                    <a:lumMod val="50000"/>
                  </a:schemeClr>
                </a:solidFill>
                <a:effectLst/>
                <a:latin typeface="Times New Roman" panose="02020603050405020304" pitchFamily="18" charset="0"/>
                <a:cs typeface="Times New Roman" panose="02020603050405020304" pitchFamily="18" charset="0"/>
              </a:rPr>
              <a:t>Saisie</a:t>
            </a:r>
            <a:r>
              <a:rPr kumimoji="0" lang="en-US" altLang="en-US"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 du </a:t>
            </a:r>
            <a:r>
              <a:rPr kumimoji="0" lang="en-US" altLang="en-US" i="0" u="none" strike="noStrike" cap="none" normalizeH="0" baseline="0" dirty="0" err="1">
                <a:ln>
                  <a:noFill/>
                </a:ln>
                <a:solidFill>
                  <a:schemeClr val="accent5">
                    <a:lumMod val="50000"/>
                  </a:schemeClr>
                </a:solidFill>
                <a:effectLst/>
                <a:latin typeface="Times New Roman" panose="02020603050405020304" pitchFamily="18" charset="0"/>
                <a:cs typeface="Times New Roman" panose="02020603050405020304" pitchFamily="18" charset="0"/>
              </a:rPr>
              <a:t>Comptage</a:t>
            </a:r>
            <a:r>
              <a:rPr kumimoji="0" lang="en-US" altLang="en-US"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 Physique</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i="0" u="none" strike="noStrike" cap="none" normalizeH="0" baseline="0" dirty="0" err="1">
                <a:ln>
                  <a:noFill/>
                </a:ln>
                <a:solidFill>
                  <a:schemeClr val="accent5">
                    <a:lumMod val="50000"/>
                  </a:schemeClr>
                </a:solidFill>
                <a:effectLst/>
                <a:latin typeface="Times New Roman" panose="02020603050405020304" pitchFamily="18" charset="0"/>
                <a:cs typeface="Times New Roman" panose="02020603050405020304" pitchFamily="18" charset="0"/>
              </a:rPr>
              <a:t>Calcul</a:t>
            </a:r>
            <a:r>
              <a:rPr kumimoji="0" lang="en-US" altLang="en-US"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 </a:t>
            </a:r>
            <a:r>
              <a:rPr kumimoji="0" lang="en-US" altLang="en-US" i="0" u="none" strike="noStrike" cap="none" normalizeH="0" baseline="0" dirty="0" err="1">
                <a:ln>
                  <a:noFill/>
                </a:ln>
                <a:solidFill>
                  <a:schemeClr val="accent5">
                    <a:lumMod val="50000"/>
                  </a:schemeClr>
                </a:solidFill>
                <a:effectLst/>
                <a:latin typeface="Times New Roman" panose="02020603050405020304" pitchFamily="18" charset="0"/>
                <a:cs typeface="Times New Roman" panose="02020603050405020304" pitchFamily="18" charset="0"/>
              </a:rPr>
              <a:t>Automatique</a:t>
            </a:r>
            <a:r>
              <a:rPr kumimoji="0" lang="en-US" altLang="en-US"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 des </a:t>
            </a:r>
            <a:r>
              <a:rPr kumimoji="0" lang="en-US" altLang="en-US" i="0" u="none" strike="noStrike" cap="none" normalizeH="0" baseline="0" dirty="0" err="1">
                <a:ln>
                  <a:noFill/>
                </a:ln>
                <a:solidFill>
                  <a:schemeClr val="accent5">
                    <a:lumMod val="50000"/>
                  </a:schemeClr>
                </a:solidFill>
                <a:effectLst/>
                <a:latin typeface="Times New Roman" panose="02020603050405020304" pitchFamily="18" charset="0"/>
                <a:cs typeface="Times New Roman" panose="02020603050405020304" pitchFamily="18" charset="0"/>
              </a:rPr>
              <a:t>Écarts</a:t>
            </a:r>
            <a:endParaRPr kumimoji="0" lang="en-US" altLang="en-US"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i="0" u="none" strike="noStrike" cap="none" normalizeH="0" baseline="0" dirty="0" err="1">
                <a:ln>
                  <a:noFill/>
                </a:ln>
                <a:solidFill>
                  <a:schemeClr val="accent5">
                    <a:lumMod val="50000"/>
                  </a:schemeClr>
                </a:solidFill>
                <a:effectLst/>
                <a:latin typeface="Times New Roman" panose="02020603050405020304" pitchFamily="18" charset="0"/>
                <a:cs typeface="Times New Roman" panose="02020603050405020304" pitchFamily="18" charset="0"/>
              </a:rPr>
              <a:t>Analyse</a:t>
            </a:r>
            <a:r>
              <a:rPr kumimoji="0" lang="en-US" altLang="en-US"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 et Justification</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Validation et </a:t>
            </a:r>
            <a:r>
              <a:rPr kumimoji="0" lang="en-US" altLang="en-US" i="0" u="none" strike="noStrike" cap="none" normalizeH="0" baseline="0" dirty="0" err="1">
                <a:ln>
                  <a:noFill/>
                </a:ln>
                <a:solidFill>
                  <a:schemeClr val="accent5">
                    <a:lumMod val="50000"/>
                  </a:schemeClr>
                </a:solidFill>
                <a:effectLst/>
                <a:latin typeface="Times New Roman" panose="02020603050405020304" pitchFamily="18" charset="0"/>
                <a:cs typeface="Times New Roman" panose="02020603050405020304" pitchFamily="18" charset="0"/>
              </a:rPr>
              <a:t>Clôture</a:t>
            </a:r>
            <a:endParaRPr kumimoji="0" lang="en-US" altLang="en-US"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Mise à jour </a:t>
            </a:r>
            <a:r>
              <a:rPr kumimoji="0" lang="en-US" altLang="en-US" i="0" u="none" strike="noStrike" cap="none" normalizeH="0" baseline="0" dirty="0" err="1">
                <a:ln>
                  <a:noFill/>
                </a:ln>
                <a:solidFill>
                  <a:schemeClr val="accent5">
                    <a:lumMod val="50000"/>
                  </a:schemeClr>
                </a:solidFill>
                <a:effectLst/>
                <a:latin typeface="Times New Roman" panose="02020603050405020304" pitchFamily="18" charset="0"/>
                <a:cs typeface="Times New Roman" panose="02020603050405020304" pitchFamily="18" charset="0"/>
              </a:rPr>
              <a:t>Automatique</a:t>
            </a:r>
            <a:r>
              <a:rPr kumimoji="0" lang="en-US" altLang="en-US"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rPr>
              <a:t> du Stock </a:t>
            </a:r>
            <a:r>
              <a:rPr kumimoji="0" lang="en-US" altLang="en-US" i="0" u="none" strike="noStrike" cap="none" normalizeH="0" baseline="0" dirty="0" err="1">
                <a:ln>
                  <a:noFill/>
                </a:ln>
                <a:solidFill>
                  <a:schemeClr val="accent5">
                    <a:lumMod val="50000"/>
                  </a:schemeClr>
                </a:solidFill>
                <a:effectLst/>
                <a:latin typeface="Times New Roman" panose="02020603050405020304" pitchFamily="18" charset="0"/>
                <a:cs typeface="Times New Roman" panose="02020603050405020304" pitchFamily="18" charset="0"/>
              </a:rPr>
              <a:t>Réel</a:t>
            </a:r>
            <a:endParaRPr kumimoji="0" lang="en-US" altLang="en-US" i="0" u="none" strike="noStrike" cap="none" normalizeH="0" baseline="0" dirty="0">
              <a:ln>
                <a:noFill/>
              </a:ln>
              <a:solidFill>
                <a:schemeClr val="accent5">
                  <a:lumMod val="50000"/>
                </a:schemeClr>
              </a:solidFill>
              <a:effectLst/>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789D4E7D-A8BF-E69C-E075-64EB4046EF1A}"/>
              </a:ext>
            </a:extLst>
          </p:cNvPr>
          <p:cNvSpPr txBox="1"/>
          <p:nvPr/>
        </p:nvSpPr>
        <p:spPr>
          <a:xfrm>
            <a:off x="5156200" y="3937000"/>
            <a:ext cx="4025899" cy="2215991"/>
          </a:xfrm>
          <a:prstGeom prst="rect">
            <a:avLst/>
          </a:prstGeom>
          <a:noFill/>
        </p:spPr>
        <p:txBody>
          <a:bodyPr wrap="square">
            <a:spAutoFit/>
          </a:bodyPr>
          <a:lstStyle/>
          <a:p>
            <a:pPr>
              <a:buNone/>
            </a:pPr>
            <a:r>
              <a:rPr lang="fr-FR" b="1" dirty="0">
                <a:latin typeface="Times New Roman" panose="02020603050405020304" pitchFamily="18" charset="0"/>
                <a:cs typeface="Times New Roman" panose="02020603050405020304" pitchFamily="18" charset="0"/>
              </a:rPr>
              <a:t>Péremptions</a:t>
            </a:r>
          </a:p>
          <a:p>
            <a:pPr>
              <a:buNone/>
            </a:pPr>
            <a:endParaRPr lang="fr-FR" sz="1050" dirty="0">
              <a:latin typeface="Times New Roman" panose="02020603050405020304" pitchFamily="18" charset="0"/>
              <a:cs typeface="Times New Roman" panose="02020603050405020304" pitchFamily="18" charset="0"/>
            </a:endParaRPr>
          </a:p>
          <a:p>
            <a:pPr>
              <a:buFont typeface="+mj-lt"/>
              <a:buAutoNum type="arabicPeriod"/>
            </a:pPr>
            <a:r>
              <a:rPr lang="fr-FR" dirty="0">
                <a:solidFill>
                  <a:schemeClr val="accent5">
                    <a:lumMod val="50000"/>
                  </a:schemeClr>
                </a:solidFill>
                <a:latin typeface="Times New Roman" panose="02020603050405020304" pitchFamily="18" charset="0"/>
                <a:cs typeface="Times New Roman" panose="02020603050405020304" pitchFamily="18" charset="0"/>
              </a:rPr>
              <a:t>Indexation par Date d'Expiration</a:t>
            </a:r>
          </a:p>
          <a:p>
            <a:pPr>
              <a:buFont typeface="+mj-lt"/>
              <a:buAutoNum type="arabicPeriod"/>
            </a:pPr>
            <a:r>
              <a:rPr lang="fr-FR" dirty="0">
                <a:solidFill>
                  <a:schemeClr val="accent5">
                    <a:lumMod val="50000"/>
                  </a:schemeClr>
                </a:solidFill>
                <a:latin typeface="Times New Roman" panose="02020603050405020304" pitchFamily="18" charset="0"/>
                <a:cs typeface="Times New Roman" panose="02020603050405020304" pitchFamily="18" charset="0"/>
              </a:rPr>
              <a:t>Surveillance Automatisée du Stock</a:t>
            </a:r>
          </a:p>
          <a:p>
            <a:pPr>
              <a:buFont typeface="+mj-lt"/>
              <a:buAutoNum type="arabicPeriod"/>
            </a:pPr>
            <a:r>
              <a:rPr lang="fr-FR" dirty="0">
                <a:solidFill>
                  <a:schemeClr val="accent5">
                    <a:lumMod val="50000"/>
                  </a:schemeClr>
                </a:solidFill>
                <a:latin typeface="Times New Roman" panose="02020603050405020304" pitchFamily="18" charset="0"/>
                <a:cs typeface="Times New Roman" panose="02020603050405020304" pitchFamily="18" charset="0"/>
              </a:rPr>
              <a:t>Calcul du Délai de Prévenance</a:t>
            </a:r>
          </a:p>
          <a:p>
            <a:pPr>
              <a:buFont typeface="+mj-lt"/>
              <a:buAutoNum type="arabicPeriod"/>
            </a:pPr>
            <a:r>
              <a:rPr lang="fr-FR" dirty="0">
                <a:solidFill>
                  <a:schemeClr val="accent5">
                    <a:lumMod val="50000"/>
                  </a:schemeClr>
                </a:solidFill>
                <a:latin typeface="Times New Roman" panose="02020603050405020304" pitchFamily="18" charset="0"/>
                <a:cs typeface="Times New Roman" panose="02020603050405020304" pitchFamily="18" charset="0"/>
              </a:rPr>
              <a:t>Isolement des Lots Critiques</a:t>
            </a:r>
          </a:p>
          <a:p>
            <a:pPr>
              <a:buFont typeface="+mj-lt"/>
              <a:buAutoNum type="arabicPeriod"/>
            </a:pPr>
            <a:r>
              <a:rPr lang="fr-FR" dirty="0">
                <a:solidFill>
                  <a:schemeClr val="accent5">
                    <a:lumMod val="50000"/>
                  </a:schemeClr>
                </a:solidFill>
                <a:latin typeface="Times New Roman" panose="02020603050405020304" pitchFamily="18" charset="0"/>
                <a:cs typeface="Times New Roman" panose="02020603050405020304" pitchFamily="18" charset="0"/>
              </a:rPr>
              <a:t>Génération du Rapport de Retrait</a:t>
            </a:r>
          </a:p>
          <a:p>
            <a:pPr>
              <a:buFont typeface="+mj-lt"/>
              <a:buAutoNum type="arabicPeriod"/>
            </a:pPr>
            <a:r>
              <a:rPr lang="fr-FR" dirty="0">
                <a:solidFill>
                  <a:schemeClr val="accent5">
                    <a:lumMod val="50000"/>
                  </a:schemeClr>
                </a:solidFill>
                <a:latin typeface="Times New Roman" panose="02020603050405020304" pitchFamily="18" charset="0"/>
                <a:cs typeface="Times New Roman" panose="02020603050405020304" pitchFamily="18" charset="0"/>
              </a:rPr>
              <a:t>Ajustement de l'Inventaire Sanitaire</a:t>
            </a:r>
          </a:p>
        </p:txBody>
      </p:sp>
    </p:spTree>
    <p:extLst>
      <p:ext uri="{BB962C8B-B14F-4D97-AF65-F5344CB8AC3E}">
        <p14:creationId xmlns:p14="http://schemas.microsoft.com/office/powerpoint/2010/main" val="17308926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4A3014B8-FA7B-4F97-839C-DA2ED83BD560}"/>
              </a:ext>
            </a:extLst>
          </p:cNvPr>
          <p:cNvSpPr txBox="1"/>
          <p:nvPr/>
        </p:nvSpPr>
        <p:spPr>
          <a:xfrm>
            <a:off x="1219200" y="752008"/>
            <a:ext cx="8283145" cy="5632311"/>
          </a:xfrm>
          <a:prstGeom prst="rect">
            <a:avLst/>
          </a:prstGeom>
          <a:noFill/>
        </p:spPr>
        <p:txBody>
          <a:bodyPr wrap="square">
            <a:spAutoFit/>
          </a:bodyPr>
          <a:lstStyle/>
          <a:p>
            <a:r>
              <a:rPr lang="fr-FR" b="1" dirty="0">
                <a:solidFill>
                  <a:schemeClr val="accent5">
                    <a:lumMod val="50000"/>
                  </a:schemeClr>
                </a:solidFill>
                <a:latin typeface="Times New Roman" panose="02020603050405020304" pitchFamily="18" charset="0"/>
                <a:cs typeface="Times New Roman" panose="02020603050405020304" pitchFamily="18" charset="0"/>
              </a:rPr>
              <a:t>- Authentification Sécurisée :</a:t>
            </a:r>
            <a:endParaRPr lang="fr-FR" dirty="0">
              <a:solidFill>
                <a:schemeClr val="accent5">
                  <a:lumMod val="50000"/>
                </a:schemeClr>
              </a:solidFill>
              <a:latin typeface="Times New Roman" panose="02020603050405020304" pitchFamily="18" charset="0"/>
              <a:cs typeface="Times New Roman" panose="02020603050405020304" pitchFamily="18" charset="0"/>
            </a:endParaRPr>
          </a:p>
          <a:p>
            <a:pPr lvl="1"/>
            <a:r>
              <a:rPr lang="fr-FR" dirty="0">
                <a:solidFill>
                  <a:schemeClr val="accent5">
                    <a:lumMod val="50000"/>
                  </a:schemeClr>
                </a:solidFill>
                <a:latin typeface="Times New Roman" panose="02020603050405020304" pitchFamily="18" charset="0"/>
                <a:cs typeface="Times New Roman" panose="02020603050405020304" pitchFamily="18" charset="0"/>
              </a:rPr>
              <a:t>Accès restreint par identifiant et mot de passe haché.</a:t>
            </a:r>
          </a:p>
          <a:p>
            <a:pPr lvl="1"/>
            <a:r>
              <a:rPr lang="fr-FR" dirty="0">
                <a:solidFill>
                  <a:schemeClr val="accent5">
                    <a:lumMod val="50000"/>
                  </a:schemeClr>
                </a:solidFill>
                <a:latin typeface="Times New Roman" panose="02020603050405020304" pitchFamily="18" charset="0"/>
                <a:cs typeface="Times New Roman" panose="02020603050405020304" pitchFamily="18" charset="0"/>
              </a:rPr>
              <a:t>Gestion des sessions pour éviter les accès non autorisés.</a:t>
            </a:r>
          </a:p>
          <a:p>
            <a:r>
              <a:rPr lang="fr-FR" b="1" dirty="0">
                <a:solidFill>
                  <a:schemeClr val="accent5">
                    <a:lumMod val="50000"/>
                  </a:schemeClr>
                </a:solidFill>
                <a:latin typeface="Times New Roman" panose="02020603050405020304" pitchFamily="18" charset="0"/>
                <a:cs typeface="Times New Roman" panose="02020603050405020304" pitchFamily="18" charset="0"/>
              </a:rPr>
              <a:t>- Gestion des Rôles (RBAC - </a:t>
            </a:r>
            <a:r>
              <a:rPr lang="fr-FR" b="1" dirty="0" err="1">
                <a:solidFill>
                  <a:schemeClr val="accent5">
                    <a:lumMod val="50000"/>
                  </a:schemeClr>
                </a:solidFill>
                <a:latin typeface="Times New Roman" panose="02020603050405020304" pitchFamily="18" charset="0"/>
                <a:cs typeface="Times New Roman" panose="02020603050405020304" pitchFamily="18" charset="0"/>
              </a:rPr>
              <a:t>Role-Based</a:t>
            </a:r>
            <a:r>
              <a:rPr lang="fr-FR" b="1" dirty="0">
                <a:solidFill>
                  <a:schemeClr val="accent5">
                    <a:lumMod val="50000"/>
                  </a:schemeClr>
                </a:solidFill>
                <a:latin typeface="Times New Roman" panose="02020603050405020304" pitchFamily="18" charset="0"/>
                <a:cs typeface="Times New Roman" panose="02020603050405020304" pitchFamily="18" charset="0"/>
              </a:rPr>
              <a:t> Access Control) :</a:t>
            </a:r>
            <a:endParaRPr lang="fr-FR" dirty="0">
              <a:solidFill>
                <a:schemeClr val="accent5">
                  <a:lumMod val="50000"/>
                </a:schemeClr>
              </a:solidFill>
              <a:latin typeface="Times New Roman" panose="02020603050405020304" pitchFamily="18" charset="0"/>
              <a:cs typeface="Times New Roman" panose="02020603050405020304" pitchFamily="18" charset="0"/>
            </a:endParaRPr>
          </a:p>
          <a:p>
            <a:pPr lvl="1"/>
            <a:r>
              <a:rPr lang="fr-FR" b="1" dirty="0">
                <a:solidFill>
                  <a:schemeClr val="accent5">
                    <a:lumMod val="50000"/>
                  </a:schemeClr>
                </a:solidFill>
                <a:latin typeface="Times New Roman" panose="02020603050405020304" pitchFamily="18" charset="0"/>
                <a:cs typeface="Times New Roman" panose="02020603050405020304" pitchFamily="18" charset="0"/>
              </a:rPr>
              <a:t>Administrateur :</a:t>
            </a:r>
            <a:r>
              <a:rPr lang="fr-FR" dirty="0">
                <a:solidFill>
                  <a:schemeClr val="accent5">
                    <a:lumMod val="50000"/>
                  </a:schemeClr>
                </a:solidFill>
                <a:latin typeface="Times New Roman" panose="02020603050405020304" pitchFamily="18" charset="0"/>
                <a:cs typeface="Times New Roman" panose="02020603050405020304" pitchFamily="18" charset="0"/>
              </a:rPr>
              <a:t> Contrôle total (gestion des commandes, configuration des seuils, inventaires critiques).</a:t>
            </a:r>
          </a:p>
          <a:p>
            <a:pPr lvl="1"/>
            <a:r>
              <a:rPr lang="fr-FR" b="1" dirty="0">
                <a:solidFill>
                  <a:schemeClr val="accent5">
                    <a:lumMod val="50000"/>
                  </a:schemeClr>
                </a:solidFill>
                <a:latin typeface="Times New Roman" panose="02020603050405020304" pitchFamily="18" charset="0"/>
                <a:cs typeface="Times New Roman" panose="02020603050405020304" pitchFamily="18" charset="0"/>
              </a:rPr>
              <a:t>Utilisateur (Agent) :</a:t>
            </a:r>
            <a:r>
              <a:rPr lang="fr-FR" dirty="0">
                <a:solidFill>
                  <a:schemeClr val="accent5">
                    <a:lumMod val="50000"/>
                  </a:schemeClr>
                </a:solidFill>
                <a:latin typeface="Times New Roman" panose="02020603050405020304" pitchFamily="18" charset="0"/>
                <a:cs typeface="Times New Roman" panose="02020603050405020304" pitchFamily="18" charset="0"/>
              </a:rPr>
              <a:t> Droits limités aux opérations courantes (Consultation des produits en stock,…).</a:t>
            </a:r>
          </a:p>
          <a:p>
            <a:r>
              <a:rPr lang="fr-FR" b="1" dirty="0">
                <a:solidFill>
                  <a:schemeClr val="accent5">
                    <a:lumMod val="50000"/>
                  </a:schemeClr>
                </a:solidFill>
                <a:latin typeface="Times New Roman" panose="02020603050405020304" pitchFamily="18" charset="0"/>
                <a:cs typeface="Times New Roman" panose="02020603050405020304" pitchFamily="18" charset="0"/>
              </a:rPr>
              <a:t>- Traçabilité et Audit (L’Historique) :</a:t>
            </a:r>
            <a:endParaRPr lang="fr-FR" dirty="0">
              <a:solidFill>
                <a:schemeClr val="accent5">
                  <a:lumMod val="50000"/>
                </a:schemeClr>
              </a:solidFill>
              <a:latin typeface="Times New Roman" panose="02020603050405020304" pitchFamily="18" charset="0"/>
              <a:cs typeface="Times New Roman" panose="02020603050405020304" pitchFamily="18" charset="0"/>
            </a:endParaRPr>
          </a:p>
          <a:p>
            <a:pPr lvl="1"/>
            <a:r>
              <a:rPr lang="fr-FR" dirty="0">
                <a:solidFill>
                  <a:schemeClr val="accent5">
                    <a:lumMod val="50000"/>
                  </a:schemeClr>
                </a:solidFill>
                <a:latin typeface="Times New Roman" panose="02020603050405020304" pitchFamily="18" charset="0"/>
                <a:cs typeface="Times New Roman" panose="02020603050405020304" pitchFamily="18" charset="0"/>
              </a:rPr>
              <a:t>Chaque mouvement de stock est marqué par l'ID de l'utilisateur.</a:t>
            </a:r>
          </a:p>
          <a:p>
            <a:pPr lvl="1"/>
            <a:r>
              <a:rPr lang="fr-FR" dirty="0">
                <a:solidFill>
                  <a:schemeClr val="accent5">
                    <a:lumMod val="50000"/>
                  </a:schemeClr>
                </a:solidFill>
                <a:latin typeface="Times New Roman" panose="02020603050405020304" pitchFamily="18" charset="0"/>
                <a:cs typeface="Times New Roman" panose="02020603050405020304" pitchFamily="18" charset="0"/>
              </a:rPr>
              <a:t>Imputabilité : Capacité de savoir exactement quel agent a effectué une transaction à une date précise.</a:t>
            </a:r>
          </a:p>
          <a:p>
            <a:r>
              <a:rPr lang="fr-FR" b="1" dirty="0">
                <a:solidFill>
                  <a:schemeClr val="accent5">
                    <a:lumMod val="50000"/>
                  </a:schemeClr>
                </a:solidFill>
                <a:latin typeface="Times New Roman" panose="02020603050405020304" pitchFamily="18" charset="0"/>
                <a:cs typeface="Times New Roman" panose="02020603050405020304" pitchFamily="18" charset="0"/>
              </a:rPr>
              <a:t>- Protection contre les erreurs :</a:t>
            </a:r>
          </a:p>
          <a:p>
            <a:pPr lvl="1"/>
            <a:r>
              <a:rPr lang="fr-FR" dirty="0">
                <a:solidFill>
                  <a:schemeClr val="accent5">
                    <a:lumMod val="50000"/>
                  </a:schemeClr>
                </a:solidFill>
                <a:latin typeface="Times New Roman" panose="02020603050405020304" pitchFamily="18" charset="0"/>
                <a:cs typeface="Times New Roman" panose="02020603050405020304" pitchFamily="18" charset="0"/>
              </a:rPr>
              <a:t>Verrouillage des stocks après validation d'un inventaire pour éviter les modifications rétroactives.</a:t>
            </a:r>
          </a:p>
          <a:p>
            <a:r>
              <a:rPr lang="fr-FR" b="1" dirty="0">
                <a:solidFill>
                  <a:schemeClr val="accent5">
                    <a:lumMod val="50000"/>
                  </a:schemeClr>
                </a:solidFill>
                <a:latin typeface="Times New Roman" panose="02020603050405020304" pitchFamily="18" charset="0"/>
                <a:cs typeface="Times New Roman" panose="02020603050405020304" pitchFamily="18" charset="0"/>
              </a:rPr>
              <a:t>- Protection contre les Injections et Attaques Web :</a:t>
            </a:r>
            <a:r>
              <a:rPr lang="fr-FR" dirty="0">
                <a:solidFill>
                  <a:schemeClr val="accent5">
                    <a:lumMod val="50000"/>
                  </a:schemeClr>
                </a:solidFill>
                <a:latin typeface="Times New Roman" panose="02020603050405020304" pitchFamily="18" charset="0"/>
                <a:cs typeface="Times New Roman" panose="02020603050405020304" pitchFamily="18" charset="0"/>
              </a:rPr>
              <a:t> Toutes les entrées utilisateur transitent par des requêtes préparées, éliminant le risque d'injection SQL. Les données affichées sont systématiquement échappées via </a:t>
            </a:r>
            <a:r>
              <a:rPr lang="fr-FR" dirty="0" err="1">
                <a:solidFill>
                  <a:schemeClr val="accent5">
                    <a:lumMod val="50000"/>
                  </a:schemeClr>
                </a:solidFill>
                <a:latin typeface="Times New Roman" panose="02020603050405020304" pitchFamily="18" charset="0"/>
                <a:cs typeface="Times New Roman" panose="02020603050405020304" pitchFamily="18" charset="0"/>
              </a:rPr>
              <a:t>htmlspecialchars</a:t>
            </a:r>
            <a:r>
              <a:rPr lang="fr-FR" dirty="0">
                <a:solidFill>
                  <a:schemeClr val="accent5">
                    <a:lumMod val="50000"/>
                  </a:schemeClr>
                </a:solidFill>
                <a:latin typeface="Times New Roman" panose="02020603050405020304" pitchFamily="18" charset="0"/>
                <a:cs typeface="Times New Roman" panose="02020603050405020304" pitchFamily="18" charset="0"/>
              </a:rPr>
              <a:t>() pour prévenir les attaques XSS (Cross-Site Scripting), garantissant que la base de données et l'interface ne peuvent pas être compromise par des saisies malveillantes.</a:t>
            </a:r>
          </a:p>
        </p:txBody>
      </p:sp>
      <p:sp>
        <p:nvSpPr>
          <p:cNvPr id="18" name="TextBox 17">
            <a:extLst>
              <a:ext uri="{FF2B5EF4-FFF2-40B4-BE49-F238E27FC236}">
                <a16:creationId xmlns:a16="http://schemas.microsoft.com/office/drawing/2014/main" id="{F9C20916-0CDF-F77C-5C6A-25D502141344}"/>
              </a:ext>
            </a:extLst>
          </p:cNvPr>
          <p:cNvSpPr txBox="1"/>
          <p:nvPr/>
        </p:nvSpPr>
        <p:spPr>
          <a:xfrm>
            <a:off x="3277070" y="125968"/>
            <a:ext cx="4167403" cy="461665"/>
          </a:xfrm>
          <a:prstGeom prst="rect">
            <a:avLst/>
          </a:prstGeom>
          <a:noFill/>
        </p:spPr>
        <p:txBody>
          <a:bodyPr wrap="square">
            <a:spAutoFit/>
          </a:bodyPr>
          <a:lstStyle/>
          <a:p>
            <a:pPr>
              <a:buNone/>
            </a:pPr>
            <a:r>
              <a:rPr lang="fr-FR" sz="2400" b="1" dirty="0">
                <a:latin typeface="Times New Roman" panose="02020603050405020304" pitchFamily="18" charset="0"/>
                <a:cs typeface="Times New Roman" panose="02020603050405020304" pitchFamily="18" charset="0"/>
              </a:rPr>
              <a:t>Sécurité et Contrôle des Accès</a:t>
            </a:r>
          </a:p>
        </p:txBody>
      </p:sp>
    </p:spTree>
    <p:extLst>
      <p:ext uri="{BB962C8B-B14F-4D97-AF65-F5344CB8AC3E}">
        <p14:creationId xmlns:p14="http://schemas.microsoft.com/office/powerpoint/2010/main" val="31133185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656AF5D0-1E3F-9E24-769E-292BC4BEEEF9}"/>
              </a:ext>
            </a:extLst>
          </p:cNvPr>
          <p:cNvSpPr txBox="1"/>
          <p:nvPr/>
        </p:nvSpPr>
        <p:spPr>
          <a:xfrm>
            <a:off x="1397000" y="924848"/>
            <a:ext cx="7874000" cy="4801314"/>
          </a:xfrm>
          <a:prstGeom prst="rect">
            <a:avLst/>
          </a:prstGeom>
          <a:noFill/>
        </p:spPr>
        <p:txBody>
          <a:bodyPr wrap="square">
            <a:spAutoFit/>
          </a:bodyPr>
          <a:lstStyle/>
          <a:p>
            <a:pPr>
              <a:buFont typeface="Arial" panose="020B0604020202020204" pitchFamily="34" charset="0"/>
              <a:buChar char="•"/>
            </a:pPr>
            <a:r>
              <a:rPr lang="fr-FR" b="1" dirty="0">
                <a:solidFill>
                  <a:schemeClr val="accent5">
                    <a:lumMod val="50000"/>
                  </a:schemeClr>
                </a:solidFill>
              </a:rPr>
              <a:t>Tableau de Bord (Dashboard) :</a:t>
            </a:r>
            <a:endParaRPr lang="fr-FR" dirty="0">
              <a:solidFill>
                <a:schemeClr val="accent5">
                  <a:lumMod val="50000"/>
                </a:schemeClr>
              </a:solidFill>
            </a:endParaRPr>
          </a:p>
          <a:p>
            <a:pPr marL="742950" lvl="1" indent="-285750">
              <a:buFont typeface="Arial" panose="020B0604020202020204" pitchFamily="34" charset="0"/>
              <a:buChar char="•"/>
            </a:pPr>
            <a:r>
              <a:rPr lang="fr-FR" dirty="0">
                <a:solidFill>
                  <a:schemeClr val="accent5">
                    <a:lumMod val="50000"/>
                  </a:schemeClr>
                </a:solidFill>
              </a:rPr>
              <a:t>Vue d'ensemble immédiate sur les indicateurs clés (Total produits, alertes de stock, péremptions imminentes).</a:t>
            </a:r>
          </a:p>
          <a:p>
            <a:pPr>
              <a:buFont typeface="Arial" panose="020B0604020202020204" pitchFamily="34" charset="0"/>
              <a:buChar char="•"/>
            </a:pPr>
            <a:r>
              <a:rPr lang="fr-FR" b="1" dirty="0">
                <a:solidFill>
                  <a:schemeClr val="accent5">
                    <a:lumMod val="50000"/>
                  </a:schemeClr>
                </a:solidFill>
              </a:rPr>
              <a:t>Conception Responsive :</a:t>
            </a:r>
            <a:endParaRPr lang="fr-FR" dirty="0">
              <a:solidFill>
                <a:schemeClr val="accent5">
                  <a:lumMod val="50000"/>
                </a:schemeClr>
              </a:solidFill>
            </a:endParaRPr>
          </a:p>
          <a:p>
            <a:pPr marL="742950" lvl="1" indent="-285750">
              <a:buFont typeface="Arial" panose="020B0604020202020204" pitchFamily="34" charset="0"/>
              <a:buChar char="•"/>
            </a:pPr>
            <a:r>
              <a:rPr lang="fr-FR" dirty="0">
                <a:solidFill>
                  <a:schemeClr val="accent5">
                    <a:lumMod val="50000"/>
                  </a:schemeClr>
                </a:solidFill>
              </a:rPr>
              <a:t>Interface adaptée aux écrans de bureau (postes fixes de la pharmacie) et aux tablettes pour les inventaires mobiles.</a:t>
            </a:r>
          </a:p>
          <a:p>
            <a:pPr>
              <a:buFont typeface="Arial" panose="020B0604020202020204" pitchFamily="34" charset="0"/>
              <a:buChar char="•"/>
            </a:pPr>
            <a:r>
              <a:rPr lang="fr-FR" b="1" dirty="0">
                <a:solidFill>
                  <a:schemeClr val="accent5">
                    <a:lumMod val="50000"/>
                  </a:schemeClr>
                </a:solidFill>
              </a:rPr>
              <a:t>Formulaires de Saisie Assistée :</a:t>
            </a:r>
            <a:endParaRPr lang="fr-FR" dirty="0">
              <a:solidFill>
                <a:schemeClr val="accent5">
                  <a:lumMod val="50000"/>
                </a:schemeClr>
              </a:solidFill>
            </a:endParaRPr>
          </a:p>
          <a:p>
            <a:pPr marL="742950" lvl="1" indent="-285750">
              <a:buFont typeface="Arial" panose="020B0604020202020204" pitchFamily="34" charset="0"/>
              <a:buChar char="•"/>
            </a:pPr>
            <a:r>
              <a:rPr lang="fr-FR" dirty="0">
                <a:solidFill>
                  <a:schemeClr val="accent5">
                    <a:lumMod val="50000"/>
                  </a:schemeClr>
                </a:solidFill>
              </a:rPr>
              <a:t>Listes déroulantes pour les fournisseurs et catégories afin d'éviter les erreurs de frappe.</a:t>
            </a:r>
          </a:p>
          <a:p>
            <a:pPr marL="742950" lvl="1" indent="-285750">
              <a:buFont typeface="Arial" panose="020B0604020202020204" pitchFamily="34" charset="0"/>
              <a:buChar char="•"/>
            </a:pPr>
            <a:r>
              <a:rPr lang="fr-FR" dirty="0" err="1">
                <a:solidFill>
                  <a:schemeClr val="accent5">
                    <a:lumMod val="50000"/>
                  </a:schemeClr>
                </a:solidFill>
              </a:rPr>
              <a:t>Auto-complétion</a:t>
            </a:r>
            <a:r>
              <a:rPr lang="fr-FR" dirty="0">
                <a:solidFill>
                  <a:schemeClr val="accent5">
                    <a:lumMod val="50000"/>
                  </a:schemeClr>
                </a:solidFill>
              </a:rPr>
              <a:t> pour la recherche rapide de médicaments parmi des centaines de références.</a:t>
            </a:r>
          </a:p>
          <a:p>
            <a:pPr>
              <a:buFont typeface="Arial" panose="020B0604020202020204" pitchFamily="34" charset="0"/>
              <a:buChar char="•"/>
            </a:pPr>
            <a:r>
              <a:rPr lang="fr-FR" b="1" dirty="0">
                <a:solidFill>
                  <a:schemeClr val="accent5">
                    <a:lumMod val="50000"/>
                  </a:schemeClr>
                </a:solidFill>
              </a:rPr>
              <a:t>Visualisation par Codes Couleurs :</a:t>
            </a:r>
            <a:endParaRPr lang="fr-FR" dirty="0">
              <a:solidFill>
                <a:schemeClr val="accent5">
                  <a:lumMod val="50000"/>
                </a:schemeClr>
              </a:solidFill>
            </a:endParaRPr>
          </a:p>
          <a:p>
            <a:pPr marL="742950" lvl="1" indent="-285750">
              <a:buFont typeface="Arial" panose="020B0604020202020204" pitchFamily="34" charset="0"/>
              <a:buChar char="•"/>
            </a:pPr>
            <a:r>
              <a:rPr lang="fr-FR" dirty="0">
                <a:solidFill>
                  <a:schemeClr val="accent5">
                    <a:lumMod val="50000"/>
                  </a:schemeClr>
                </a:solidFill>
              </a:rPr>
              <a:t>Utilisation de signaux visuels (Rouge/Orange) pour hiérarchiser les urgences de réapprovisionnement.</a:t>
            </a:r>
          </a:p>
          <a:p>
            <a:pPr>
              <a:buFont typeface="Arial" panose="020B0604020202020204" pitchFamily="34" charset="0"/>
              <a:buChar char="•"/>
            </a:pPr>
            <a:r>
              <a:rPr lang="fr-FR" b="1" dirty="0">
                <a:solidFill>
                  <a:schemeClr val="accent5">
                    <a:lumMod val="50000"/>
                  </a:schemeClr>
                </a:solidFill>
              </a:rPr>
              <a:t>Accessibilité Web :</a:t>
            </a:r>
            <a:endParaRPr lang="fr-FR" dirty="0">
              <a:solidFill>
                <a:schemeClr val="accent5">
                  <a:lumMod val="50000"/>
                </a:schemeClr>
              </a:solidFill>
            </a:endParaRPr>
          </a:p>
          <a:p>
            <a:pPr marL="742950" lvl="1" indent="-285750">
              <a:buFont typeface="Arial" panose="020B0604020202020204" pitchFamily="34" charset="0"/>
              <a:buChar char="•"/>
            </a:pPr>
            <a:r>
              <a:rPr lang="fr-FR" dirty="0">
                <a:solidFill>
                  <a:schemeClr val="accent5">
                    <a:lumMod val="50000"/>
                  </a:schemeClr>
                </a:solidFill>
              </a:rPr>
              <a:t>Utilisation d'un navigateur standard, ne nécessitant aucune installation lourde sur les postes clients de l'hôpital.</a:t>
            </a:r>
          </a:p>
        </p:txBody>
      </p:sp>
      <p:sp>
        <p:nvSpPr>
          <p:cNvPr id="3" name="TextBox 2">
            <a:extLst>
              <a:ext uri="{FF2B5EF4-FFF2-40B4-BE49-F238E27FC236}">
                <a16:creationId xmlns:a16="http://schemas.microsoft.com/office/drawing/2014/main" id="{EF127604-1FCB-1206-B09A-6D185BCBFD8D}"/>
              </a:ext>
            </a:extLst>
          </p:cNvPr>
          <p:cNvSpPr txBox="1"/>
          <p:nvPr/>
        </p:nvSpPr>
        <p:spPr>
          <a:xfrm>
            <a:off x="3262185" y="352852"/>
            <a:ext cx="5041556" cy="461665"/>
          </a:xfrm>
          <a:prstGeom prst="rect">
            <a:avLst/>
          </a:prstGeom>
          <a:noFill/>
        </p:spPr>
        <p:txBody>
          <a:bodyPr wrap="square">
            <a:spAutoFit/>
          </a:bodyPr>
          <a:lstStyle/>
          <a:p>
            <a:pPr>
              <a:buNone/>
            </a:pPr>
            <a:r>
              <a:rPr lang="fr-FR" sz="2400" b="1" dirty="0">
                <a:latin typeface="Times New Roman" panose="02020603050405020304" pitchFamily="18" charset="0"/>
                <a:cs typeface="Times New Roman" panose="02020603050405020304" pitchFamily="18" charset="0"/>
              </a:rPr>
              <a:t>Interface Utilisateur et Ergonomie</a:t>
            </a:r>
          </a:p>
        </p:txBody>
      </p:sp>
    </p:spTree>
    <p:extLst>
      <p:ext uri="{BB962C8B-B14F-4D97-AF65-F5344CB8AC3E}">
        <p14:creationId xmlns:p14="http://schemas.microsoft.com/office/powerpoint/2010/main" val="28818465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4E620825-7C63-3354-9C7D-3662A1A5DC02}"/>
              </a:ext>
            </a:extLst>
          </p:cNvPr>
          <p:cNvSpPr txBox="1"/>
          <p:nvPr/>
        </p:nvSpPr>
        <p:spPr>
          <a:xfrm>
            <a:off x="1320800" y="793045"/>
            <a:ext cx="7899400" cy="6186309"/>
          </a:xfrm>
          <a:prstGeom prst="rect">
            <a:avLst/>
          </a:prstGeom>
          <a:noFill/>
        </p:spPr>
        <p:txBody>
          <a:bodyPr wrap="square">
            <a:spAutoFit/>
          </a:bodyPr>
          <a:lstStyle/>
          <a:p>
            <a:r>
              <a:rPr lang="fr-FR" b="1" dirty="0">
                <a:solidFill>
                  <a:schemeClr val="accent5">
                    <a:lumMod val="50000"/>
                  </a:schemeClr>
                </a:solidFill>
                <a:latin typeface="Times New Roman" panose="02020603050405020304" pitchFamily="18" charset="0"/>
                <a:cs typeface="Times New Roman" panose="02020603050405020304" pitchFamily="18" charset="0"/>
              </a:rPr>
              <a:t>- Bilan du projet :</a:t>
            </a:r>
            <a:endParaRPr lang="fr-FR" dirty="0">
              <a:solidFill>
                <a:schemeClr val="accent5">
                  <a:lumMod val="50000"/>
                </a:schemeClr>
              </a:solidFill>
              <a:latin typeface="Times New Roman" panose="02020603050405020304" pitchFamily="18" charset="0"/>
              <a:cs typeface="Times New Roman" panose="02020603050405020304" pitchFamily="18" charset="0"/>
            </a:endParaRPr>
          </a:p>
          <a:p>
            <a:pPr>
              <a:buNone/>
            </a:pPr>
            <a:r>
              <a:rPr lang="fr-FR" b="1" dirty="0">
                <a:solidFill>
                  <a:schemeClr val="accent5">
                    <a:lumMod val="50000"/>
                  </a:schemeClr>
                </a:solidFill>
                <a:latin typeface="Times New Roman" panose="02020603050405020304" pitchFamily="18" charset="0"/>
                <a:cs typeface="Times New Roman" panose="02020603050405020304" pitchFamily="18" charset="0"/>
              </a:rPr>
              <a:t>	Fiabilité des Données :</a:t>
            </a:r>
            <a:r>
              <a:rPr lang="fr-FR" dirty="0">
                <a:solidFill>
                  <a:schemeClr val="accent5">
                    <a:lumMod val="50000"/>
                  </a:schemeClr>
                </a:solidFill>
                <a:latin typeface="Times New Roman" panose="02020603050405020304" pitchFamily="18" charset="0"/>
                <a:cs typeface="Times New Roman" panose="02020603050405020304" pitchFamily="18" charset="0"/>
              </a:rPr>
              <a:t> Grâce à la gestion par lots et aux contraintes d'intégrité référentielle, le système élimine les incohérences entre stock théorique et stock physique — un problème récurrent avec les registres manuels de la pharmacie.</a:t>
            </a:r>
          </a:p>
          <a:p>
            <a:pPr>
              <a:buNone/>
            </a:pPr>
            <a:r>
              <a:rPr lang="fr-FR" b="1" dirty="0">
                <a:solidFill>
                  <a:schemeClr val="accent5">
                    <a:lumMod val="50000"/>
                  </a:schemeClr>
                </a:solidFill>
                <a:latin typeface="Times New Roman" panose="02020603050405020304" pitchFamily="18" charset="0"/>
                <a:cs typeface="Times New Roman" panose="02020603050405020304" pitchFamily="18" charset="0"/>
              </a:rPr>
              <a:t>	Traçabilité Complète :</a:t>
            </a:r>
            <a:r>
              <a:rPr lang="fr-FR" dirty="0">
                <a:solidFill>
                  <a:schemeClr val="accent5">
                    <a:lumMod val="50000"/>
                  </a:schemeClr>
                </a:solidFill>
                <a:latin typeface="Times New Roman" panose="02020603050405020304" pitchFamily="18" charset="0"/>
                <a:cs typeface="Times New Roman" panose="02020603050405020304" pitchFamily="18" charset="0"/>
              </a:rPr>
              <a:t> Chaque opération — entrée, sortie, transfert, inventaire — est horodatée et liée à un utilisateur identifié, offrant un historique exhaustif exploitable en cas d'audit interne ou de contrôle réglementaire.</a:t>
            </a:r>
          </a:p>
          <a:p>
            <a:pPr lvl="1"/>
            <a:r>
              <a:rPr lang="fr-FR" b="1" dirty="0">
                <a:solidFill>
                  <a:schemeClr val="accent5">
                    <a:lumMod val="50000"/>
                  </a:schemeClr>
                </a:solidFill>
                <a:latin typeface="Times New Roman" panose="02020603050405020304" pitchFamily="18" charset="0"/>
                <a:cs typeface="Times New Roman" panose="02020603050405020304" pitchFamily="18" charset="0"/>
              </a:rPr>
              <a:t>Maîtrise technique :</a:t>
            </a:r>
            <a:r>
              <a:rPr lang="fr-FR" dirty="0">
                <a:solidFill>
                  <a:schemeClr val="accent5">
                    <a:lumMod val="50000"/>
                  </a:schemeClr>
                </a:solidFill>
                <a:latin typeface="Times New Roman" panose="02020603050405020304" pitchFamily="18" charset="0"/>
                <a:cs typeface="Times New Roman" panose="02020603050405020304" pitchFamily="18" charset="0"/>
              </a:rPr>
              <a:t> Consolidation des compétences en développement Web (PHP/SQL) et en modélisation UML.</a:t>
            </a:r>
          </a:p>
          <a:p>
            <a:r>
              <a:rPr lang="fr-FR" b="1" dirty="0">
                <a:solidFill>
                  <a:schemeClr val="accent5">
                    <a:lumMod val="50000"/>
                  </a:schemeClr>
                </a:solidFill>
                <a:latin typeface="Times New Roman" panose="02020603050405020304" pitchFamily="18" charset="0"/>
                <a:cs typeface="Times New Roman" panose="02020603050405020304" pitchFamily="18" charset="0"/>
              </a:rPr>
              <a:t>- Perspectives d'évolution (Le futur) :</a:t>
            </a:r>
            <a:endParaRPr lang="fr-FR" dirty="0">
              <a:solidFill>
                <a:schemeClr val="accent5">
                  <a:lumMod val="50000"/>
                </a:schemeClr>
              </a:solidFill>
              <a:latin typeface="Times New Roman" panose="02020603050405020304" pitchFamily="18" charset="0"/>
              <a:cs typeface="Times New Roman" panose="02020603050405020304" pitchFamily="18" charset="0"/>
            </a:endParaRPr>
          </a:p>
          <a:p>
            <a:pPr lvl="1"/>
            <a:r>
              <a:rPr lang="fr-FR" b="1" dirty="0">
                <a:solidFill>
                  <a:schemeClr val="accent5">
                    <a:lumMod val="50000"/>
                  </a:schemeClr>
                </a:solidFill>
                <a:latin typeface="Times New Roman" panose="02020603050405020304" pitchFamily="18" charset="0"/>
                <a:cs typeface="Times New Roman" panose="02020603050405020304" pitchFamily="18" charset="0"/>
              </a:rPr>
              <a:t>- Interfaçage avec le Laboratoire :</a:t>
            </a:r>
            <a:r>
              <a:rPr lang="fr-FR" dirty="0">
                <a:solidFill>
                  <a:schemeClr val="accent5">
                    <a:lumMod val="50000"/>
                  </a:schemeClr>
                </a:solidFill>
                <a:latin typeface="Times New Roman" panose="02020603050405020304" pitchFamily="18" charset="0"/>
                <a:cs typeface="Times New Roman" panose="02020603050405020304" pitchFamily="18" charset="0"/>
              </a:rPr>
              <a:t> Automatisation des commandes dès que le stock atteint le seuil critique.</a:t>
            </a:r>
          </a:p>
          <a:p>
            <a:pPr lvl="1"/>
            <a:r>
              <a:rPr lang="fr-FR" b="1" dirty="0">
                <a:solidFill>
                  <a:schemeClr val="accent5">
                    <a:lumMod val="50000"/>
                  </a:schemeClr>
                </a:solidFill>
                <a:latin typeface="Times New Roman" panose="02020603050405020304" pitchFamily="18" charset="0"/>
                <a:cs typeface="Times New Roman" panose="02020603050405020304" pitchFamily="18" charset="0"/>
              </a:rPr>
              <a:t>- Module de Notification SMS/Email :</a:t>
            </a:r>
            <a:r>
              <a:rPr lang="fr-FR" dirty="0">
                <a:solidFill>
                  <a:schemeClr val="accent5">
                    <a:lumMod val="50000"/>
                  </a:schemeClr>
                </a:solidFill>
                <a:latin typeface="Times New Roman" panose="02020603050405020304" pitchFamily="18" charset="0"/>
                <a:cs typeface="Times New Roman" panose="02020603050405020304" pitchFamily="18" charset="0"/>
              </a:rPr>
              <a:t> Alertes directes aux gestionnaires pour les ruptures de stock imminentes.</a:t>
            </a:r>
          </a:p>
          <a:p>
            <a:pPr>
              <a:buNone/>
            </a:pPr>
            <a:r>
              <a:rPr lang="fr-FR" b="1" dirty="0">
                <a:solidFill>
                  <a:schemeClr val="accent5">
                    <a:lumMod val="50000"/>
                  </a:schemeClr>
                </a:solidFill>
                <a:latin typeface="Times New Roman" panose="02020603050405020304" pitchFamily="18" charset="0"/>
                <a:cs typeface="Times New Roman" panose="02020603050405020304" pitchFamily="18" charset="0"/>
              </a:rPr>
              <a:t>	- Intégration d'un Système de Codes-Barres :</a:t>
            </a:r>
            <a:r>
              <a:rPr lang="fr-FR" dirty="0">
                <a:solidFill>
                  <a:schemeClr val="accent5">
                    <a:lumMod val="50000"/>
                  </a:schemeClr>
                </a:solidFill>
                <a:latin typeface="Times New Roman" panose="02020603050405020304" pitchFamily="18" charset="0"/>
                <a:cs typeface="Times New Roman" panose="02020603050405020304" pitchFamily="18" charset="0"/>
              </a:rPr>
              <a:t> Attribution d'un code-barres 	unique à chaque lot dès la réception, permettant des saisies instantanées par 	scan et réduisant quasi à zéro les erreurs de saisie manuelle.</a:t>
            </a:r>
          </a:p>
          <a:p>
            <a:pPr>
              <a:buNone/>
            </a:pPr>
            <a:r>
              <a:rPr lang="fr-FR" b="1" dirty="0">
                <a:solidFill>
                  <a:schemeClr val="accent5">
                    <a:lumMod val="50000"/>
                  </a:schemeClr>
                </a:solidFill>
                <a:latin typeface="Times New Roman" panose="02020603050405020304" pitchFamily="18" charset="0"/>
                <a:cs typeface="Times New Roman" panose="02020603050405020304" pitchFamily="18" charset="0"/>
              </a:rPr>
              <a:t>	- Tableau de Bord Décisionnel (BI) :</a:t>
            </a:r>
            <a:r>
              <a:rPr lang="fr-FR" dirty="0">
                <a:solidFill>
                  <a:schemeClr val="accent5">
                    <a:lumMod val="50000"/>
                  </a:schemeClr>
                </a:solidFill>
                <a:latin typeface="Times New Roman" panose="02020603050405020304" pitchFamily="18" charset="0"/>
                <a:cs typeface="Times New Roman" panose="02020603050405020304" pitchFamily="18" charset="0"/>
              </a:rPr>
              <a:t> Au-delà des statistiques simples, un 	module d'analyse prédictive pourrait anticiper les ruptures de stock en croisant 	l'historique de consommation avec les délais de livraison des fournisseurs.</a:t>
            </a:r>
          </a:p>
          <a:p>
            <a:pPr marL="742950" lvl="1" indent="-285750">
              <a:buFont typeface="Arial" panose="020B0604020202020204" pitchFamily="34" charset="0"/>
              <a:buChar char="•"/>
            </a:pPr>
            <a:endParaRPr lang="fr-FR"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EAD92429-B48B-2679-63DE-43E0C0CC0450}"/>
              </a:ext>
            </a:extLst>
          </p:cNvPr>
          <p:cNvSpPr txBox="1"/>
          <p:nvPr/>
        </p:nvSpPr>
        <p:spPr>
          <a:xfrm>
            <a:off x="4467226" y="242629"/>
            <a:ext cx="5184774" cy="461665"/>
          </a:xfrm>
          <a:prstGeom prst="rect">
            <a:avLst/>
          </a:prstGeom>
          <a:noFill/>
        </p:spPr>
        <p:txBody>
          <a:bodyPr wrap="square">
            <a:spAutoFit/>
          </a:bodyPr>
          <a:lstStyle/>
          <a:p>
            <a:pPr>
              <a:buNone/>
            </a:pPr>
            <a:r>
              <a:rPr lang="fr-FR" sz="2400" b="1" dirty="0">
                <a:latin typeface="Times New Roman" panose="02020603050405020304" pitchFamily="18" charset="0"/>
                <a:cs typeface="Times New Roman" panose="02020603050405020304" pitchFamily="18" charset="0"/>
              </a:rPr>
              <a:t>Bilan et Perspectives</a:t>
            </a:r>
          </a:p>
        </p:txBody>
      </p:sp>
    </p:spTree>
    <p:extLst>
      <p:ext uri="{BB962C8B-B14F-4D97-AF65-F5344CB8AC3E}">
        <p14:creationId xmlns:p14="http://schemas.microsoft.com/office/powerpoint/2010/main" val="33672906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B16D40BD-0802-4EA0-7B56-6B07ED841B9A}"/>
              </a:ext>
            </a:extLst>
          </p:cNvPr>
          <p:cNvSpPr txBox="1"/>
          <p:nvPr/>
        </p:nvSpPr>
        <p:spPr>
          <a:xfrm>
            <a:off x="1804087" y="1342053"/>
            <a:ext cx="6877050" cy="3416320"/>
          </a:xfrm>
          <a:prstGeom prst="rect">
            <a:avLst/>
          </a:prstGeom>
          <a:noFill/>
        </p:spPr>
        <p:txBody>
          <a:bodyPr wrap="square">
            <a:spAutoFit/>
          </a:bodyPr>
          <a:lstStyle/>
          <a:p>
            <a:r>
              <a:rPr lang="fr-FR" b="1" dirty="0">
                <a:solidFill>
                  <a:schemeClr val="accent5">
                    <a:lumMod val="50000"/>
                  </a:schemeClr>
                </a:solidFill>
                <a:latin typeface="Times New Roman" panose="02020603050405020304" pitchFamily="18" charset="0"/>
                <a:cs typeface="Times New Roman" panose="02020603050405020304" pitchFamily="18" charset="0"/>
              </a:rPr>
              <a:t>- Conclusion :</a:t>
            </a:r>
            <a:endParaRPr lang="fr-FR" dirty="0">
              <a:solidFill>
                <a:schemeClr val="accent5">
                  <a:lumMod val="50000"/>
                </a:schemeClr>
              </a:solidFill>
              <a:latin typeface="Times New Roman" panose="02020603050405020304" pitchFamily="18" charset="0"/>
              <a:cs typeface="Times New Roman" panose="02020603050405020304" pitchFamily="18" charset="0"/>
            </a:endParaRPr>
          </a:p>
          <a:p>
            <a:pPr lvl="1"/>
            <a:r>
              <a:rPr lang="fr-FR" dirty="0">
                <a:solidFill>
                  <a:schemeClr val="accent5">
                    <a:lumMod val="50000"/>
                  </a:schemeClr>
                </a:solidFill>
                <a:latin typeface="Times New Roman" panose="02020603050405020304" pitchFamily="18" charset="0"/>
                <a:cs typeface="Times New Roman" panose="02020603050405020304" pitchFamily="18" charset="0"/>
              </a:rPr>
              <a:t>- Le projet répond à un besoin critique de l'Hôpital </a:t>
            </a:r>
            <a:r>
              <a:rPr lang="fr-FR" dirty="0" err="1">
                <a:solidFill>
                  <a:schemeClr val="accent5">
                    <a:lumMod val="50000"/>
                  </a:schemeClr>
                </a:solidFill>
                <a:latin typeface="Times New Roman" panose="02020603050405020304" pitchFamily="18" charset="0"/>
                <a:cs typeface="Times New Roman" panose="02020603050405020304" pitchFamily="18" charset="0"/>
              </a:rPr>
              <a:t>Laquintinie</a:t>
            </a:r>
            <a:r>
              <a:rPr lang="fr-FR" dirty="0">
                <a:solidFill>
                  <a:schemeClr val="accent5">
                    <a:lumMod val="50000"/>
                  </a:schemeClr>
                </a:solidFill>
                <a:latin typeface="Times New Roman" panose="02020603050405020304" pitchFamily="18" charset="0"/>
                <a:cs typeface="Times New Roman" panose="02020603050405020304" pitchFamily="18" charset="0"/>
              </a:rPr>
              <a:t> en apportant </a:t>
            </a:r>
            <a:r>
              <a:rPr lang="fr-FR" b="1" dirty="0">
                <a:solidFill>
                  <a:schemeClr val="accent5">
                    <a:lumMod val="50000"/>
                  </a:schemeClr>
                </a:solidFill>
                <a:latin typeface="Times New Roman" panose="02020603050405020304" pitchFamily="18" charset="0"/>
                <a:cs typeface="Times New Roman" panose="02020603050405020304" pitchFamily="18" charset="0"/>
              </a:rPr>
              <a:t>transparence</a:t>
            </a:r>
            <a:r>
              <a:rPr lang="fr-FR" dirty="0">
                <a:solidFill>
                  <a:schemeClr val="accent5">
                    <a:lumMod val="50000"/>
                  </a:schemeClr>
                </a:solidFill>
                <a:latin typeface="Times New Roman" panose="02020603050405020304" pitchFamily="18" charset="0"/>
                <a:cs typeface="Times New Roman" panose="02020603050405020304" pitchFamily="18" charset="0"/>
              </a:rPr>
              <a:t> et </a:t>
            </a:r>
            <a:r>
              <a:rPr lang="fr-FR" b="1" dirty="0">
                <a:solidFill>
                  <a:schemeClr val="accent5">
                    <a:lumMod val="50000"/>
                  </a:schemeClr>
                </a:solidFill>
                <a:latin typeface="Times New Roman" panose="02020603050405020304" pitchFamily="18" charset="0"/>
                <a:cs typeface="Times New Roman" panose="02020603050405020304" pitchFamily="18" charset="0"/>
              </a:rPr>
              <a:t>réactivité</a:t>
            </a:r>
            <a:r>
              <a:rPr lang="fr-FR" dirty="0">
                <a:solidFill>
                  <a:schemeClr val="accent5">
                    <a:lumMod val="50000"/>
                  </a:schemeClr>
                </a:solidFill>
                <a:latin typeface="Times New Roman" panose="02020603050405020304" pitchFamily="18" charset="0"/>
                <a:cs typeface="Times New Roman" panose="02020603050405020304" pitchFamily="18" charset="0"/>
              </a:rPr>
              <a:t>.</a:t>
            </a:r>
          </a:p>
          <a:p>
            <a:pPr lvl="1"/>
            <a:r>
              <a:rPr lang="fr-FR" dirty="0">
                <a:solidFill>
                  <a:schemeClr val="accent5">
                    <a:lumMod val="50000"/>
                  </a:schemeClr>
                </a:solidFill>
                <a:latin typeface="Times New Roman" panose="02020603050405020304" pitchFamily="18" charset="0"/>
                <a:cs typeface="Times New Roman" panose="02020603050405020304" pitchFamily="18" charset="0"/>
              </a:rPr>
              <a:t>- L'outil web constitue un socle solide pour la transformation numérique de la pharmacie hospitalière.</a:t>
            </a:r>
          </a:p>
          <a:p>
            <a:r>
              <a:rPr lang="fr-FR" b="1" dirty="0">
                <a:solidFill>
                  <a:schemeClr val="accent5">
                    <a:lumMod val="50000"/>
                  </a:schemeClr>
                </a:solidFill>
                <a:latin typeface="Times New Roman" panose="02020603050405020304" pitchFamily="18" charset="0"/>
                <a:cs typeface="Times New Roman" panose="02020603050405020304" pitchFamily="18" charset="0"/>
              </a:rPr>
              <a:t>- Remerciements :</a:t>
            </a:r>
            <a:endParaRPr lang="fr-FR" dirty="0">
              <a:solidFill>
                <a:schemeClr val="accent5">
                  <a:lumMod val="50000"/>
                </a:schemeClr>
              </a:solidFill>
              <a:latin typeface="Times New Roman" panose="02020603050405020304" pitchFamily="18" charset="0"/>
              <a:cs typeface="Times New Roman" panose="02020603050405020304" pitchFamily="18" charset="0"/>
            </a:endParaRPr>
          </a:p>
          <a:p>
            <a:pPr lvl="1"/>
            <a:r>
              <a:rPr lang="fr-FR" dirty="0">
                <a:solidFill>
                  <a:schemeClr val="accent5">
                    <a:lumMod val="50000"/>
                  </a:schemeClr>
                </a:solidFill>
                <a:latin typeface="Times New Roman" panose="02020603050405020304" pitchFamily="18" charset="0"/>
                <a:cs typeface="Times New Roman" panose="02020603050405020304" pitchFamily="18" charset="0"/>
              </a:rPr>
              <a:t>- Merci aux membres du jury pour leur attention et leur expertise.</a:t>
            </a:r>
          </a:p>
          <a:p>
            <a:pPr lvl="1"/>
            <a:r>
              <a:rPr lang="fr-FR" dirty="0">
                <a:solidFill>
                  <a:schemeClr val="accent5">
                    <a:lumMod val="50000"/>
                  </a:schemeClr>
                </a:solidFill>
                <a:latin typeface="Times New Roman" panose="02020603050405020304" pitchFamily="18" charset="0"/>
                <a:cs typeface="Times New Roman" panose="02020603050405020304" pitchFamily="18" charset="0"/>
              </a:rPr>
              <a:t> -Merci à l'encadrement académique et au personnel de l'Hôpital </a:t>
            </a:r>
            <a:r>
              <a:rPr lang="fr-FR" dirty="0" err="1">
                <a:solidFill>
                  <a:schemeClr val="accent5">
                    <a:lumMod val="50000"/>
                  </a:schemeClr>
                </a:solidFill>
                <a:latin typeface="Times New Roman" panose="02020603050405020304" pitchFamily="18" charset="0"/>
                <a:cs typeface="Times New Roman" panose="02020603050405020304" pitchFamily="18" charset="0"/>
              </a:rPr>
              <a:t>Laquintinie</a:t>
            </a:r>
            <a:r>
              <a:rPr lang="fr-FR" dirty="0">
                <a:solidFill>
                  <a:schemeClr val="accent5">
                    <a:lumMod val="50000"/>
                  </a:schemeClr>
                </a:solidFill>
                <a:latin typeface="Times New Roman" panose="02020603050405020304" pitchFamily="18" charset="0"/>
                <a:cs typeface="Times New Roman" panose="02020603050405020304" pitchFamily="18" charset="0"/>
              </a:rPr>
              <a:t> pour leur accompagnement précieux.</a:t>
            </a:r>
          </a:p>
          <a:p>
            <a:r>
              <a:rPr lang="fr-FR" b="1" dirty="0">
                <a:solidFill>
                  <a:schemeClr val="accent5">
                    <a:lumMod val="50000"/>
                  </a:schemeClr>
                </a:solidFill>
                <a:latin typeface="Times New Roman" panose="02020603050405020304" pitchFamily="18" charset="0"/>
                <a:cs typeface="Times New Roman" panose="02020603050405020304" pitchFamily="18" charset="0"/>
              </a:rPr>
              <a:t>- Ouverture :</a:t>
            </a:r>
            <a:endParaRPr lang="fr-FR" dirty="0">
              <a:solidFill>
                <a:schemeClr val="accent5">
                  <a:lumMod val="50000"/>
                </a:schemeClr>
              </a:solidFill>
              <a:latin typeface="Times New Roman" panose="02020603050405020304" pitchFamily="18" charset="0"/>
              <a:cs typeface="Times New Roman" panose="02020603050405020304" pitchFamily="18" charset="0"/>
            </a:endParaRPr>
          </a:p>
          <a:p>
            <a:pPr lvl="1"/>
            <a:r>
              <a:rPr lang="fr-FR">
                <a:solidFill>
                  <a:schemeClr val="accent5">
                    <a:lumMod val="50000"/>
                  </a:schemeClr>
                </a:solidFill>
                <a:latin typeface="Times New Roman" panose="02020603050405020304" pitchFamily="18" charset="0"/>
                <a:cs typeface="Times New Roman" panose="02020603050405020304" pitchFamily="18" charset="0"/>
              </a:rPr>
              <a:t>- Je </a:t>
            </a:r>
            <a:r>
              <a:rPr lang="fr-FR" dirty="0">
                <a:solidFill>
                  <a:schemeClr val="accent5">
                    <a:lumMod val="50000"/>
                  </a:schemeClr>
                </a:solidFill>
                <a:latin typeface="Times New Roman" panose="02020603050405020304" pitchFamily="18" charset="0"/>
                <a:cs typeface="Times New Roman" panose="02020603050405020304" pitchFamily="18" charset="0"/>
              </a:rPr>
              <a:t>reste à votre entière disposition pour vos questions et suggestions de perfectionnement.</a:t>
            </a:r>
          </a:p>
        </p:txBody>
      </p:sp>
      <p:sp>
        <p:nvSpPr>
          <p:cNvPr id="3" name="TextBox 2">
            <a:extLst>
              <a:ext uri="{FF2B5EF4-FFF2-40B4-BE49-F238E27FC236}">
                <a16:creationId xmlns:a16="http://schemas.microsoft.com/office/drawing/2014/main" id="{1F431F49-3AA9-232B-6923-32EF9CB161B6}"/>
              </a:ext>
            </a:extLst>
          </p:cNvPr>
          <p:cNvSpPr txBox="1"/>
          <p:nvPr/>
        </p:nvSpPr>
        <p:spPr>
          <a:xfrm>
            <a:off x="3286898" y="447901"/>
            <a:ext cx="5041556" cy="461665"/>
          </a:xfrm>
          <a:prstGeom prst="rect">
            <a:avLst/>
          </a:prstGeom>
          <a:noFill/>
        </p:spPr>
        <p:txBody>
          <a:bodyPr wrap="square">
            <a:spAutoFit/>
          </a:bodyPr>
          <a:lstStyle/>
          <a:p>
            <a:pPr>
              <a:buNone/>
            </a:pPr>
            <a:r>
              <a:rPr lang="fr-FR" sz="2400" b="1" dirty="0">
                <a:latin typeface="Times New Roman" panose="02020603050405020304" pitchFamily="18" charset="0"/>
                <a:cs typeface="Times New Roman" panose="02020603050405020304" pitchFamily="18" charset="0"/>
              </a:rPr>
              <a:t>Conclusion et Remerciements</a:t>
            </a:r>
          </a:p>
        </p:txBody>
      </p:sp>
    </p:spTree>
    <p:extLst>
      <p:ext uri="{BB962C8B-B14F-4D97-AF65-F5344CB8AC3E}">
        <p14:creationId xmlns:p14="http://schemas.microsoft.com/office/powerpoint/2010/main" val="1611752864"/>
      </p:ext>
    </p:extLst>
  </p:cSld>
  <p:clrMapOvr>
    <a:masterClrMapping/>
  </p:clrMapOvr>
</p:sld>
</file>

<file path=ppt/theme/theme1.xml><?xml version="1.0" encoding="utf-8"?>
<a:theme xmlns:a="http://schemas.openxmlformats.org/drawingml/2006/main" name="Office Theme">
  <a:themeElements>
    <a:clrScheme name="Certificate of Completion">
      <a:dk1>
        <a:srgbClr val="000000"/>
      </a:dk1>
      <a:lt1>
        <a:srgbClr val="FFFFFF"/>
      </a:lt1>
      <a:dk2>
        <a:srgbClr val="373545"/>
      </a:dk2>
      <a:lt2>
        <a:srgbClr val="DCD8DC"/>
      </a:lt2>
      <a:accent1>
        <a:srgbClr val="0D2746"/>
      </a:accent1>
      <a:accent2>
        <a:srgbClr val="A4D8D7"/>
      </a:accent2>
      <a:accent3>
        <a:srgbClr val="827E79"/>
      </a:accent3>
      <a:accent4>
        <a:srgbClr val="C6C3BB"/>
      </a:accent4>
      <a:accent5>
        <a:srgbClr val="00AE9B"/>
      </a:accent5>
      <a:accent6>
        <a:srgbClr val="F4E4DE"/>
      </a:accent6>
      <a:hlink>
        <a:srgbClr val="69A020"/>
      </a:hlink>
      <a:folHlink>
        <a:srgbClr val="8C8C8C"/>
      </a:folHlink>
    </a:clrScheme>
    <a:fontScheme name="Custom 4">
      <a:majorFont>
        <a:latin typeface="Tw Cen MT"/>
        <a:ea typeface=""/>
        <a:cs typeface=""/>
      </a:majorFont>
      <a:minorFont>
        <a:latin typeface="Tw Cen M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0001112_win32_Fixed" id="{E5601511-4E33-44E4-98EE-81E0EA24B902}" vid="{803B55B3-FDEB-4ED5-9B21-40517B221B5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43D41C11-B6EA-4F37-9125-AEB99506CA0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536E7D8-E0EE-4445-8E3B-C44F02E0D040}">
  <ds:schemaRefs>
    <ds:schemaRef ds:uri="http://schemas.microsoft.com/sharepoint/v3/contenttype/forms"/>
  </ds:schemaRefs>
</ds:datastoreItem>
</file>

<file path=customXml/itemProps3.xml><?xml version="1.0" encoding="utf-8"?>
<ds:datastoreItem xmlns:ds="http://schemas.openxmlformats.org/officeDocument/2006/customXml" ds:itemID="{D9112930-B60D-48C9-8A25-3B5150D56A05}">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Props/app.xml><?xml version="1.0" encoding="utf-8"?>
<Properties xmlns="http://schemas.openxmlformats.org/officeDocument/2006/extended-properties" xmlns:vt="http://schemas.openxmlformats.org/officeDocument/2006/docPropsVTypes">
  <Template>Certificate of completion</Template>
  <TotalTime>3419</TotalTime>
  <Words>886</Words>
  <Application>Microsoft Office PowerPoint</Application>
  <PresentationFormat>Personnalisé</PresentationFormat>
  <Paragraphs>169</Paragraphs>
  <Slides>13</Slides>
  <Notes>2</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13</vt:i4>
      </vt:variant>
    </vt:vector>
  </HeadingPairs>
  <TitlesOfParts>
    <vt:vector size="21" baseType="lpstr">
      <vt:lpstr>Arial</vt:lpstr>
      <vt:lpstr>Berlin Sans FB Demi</vt:lpstr>
      <vt:lpstr>Calibri</vt:lpstr>
      <vt:lpstr>Cambria Math</vt:lpstr>
      <vt:lpstr>Century Gothic</vt:lpstr>
      <vt:lpstr>Times New Roman</vt:lpstr>
      <vt:lpstr>Tw Cen MT</vt:lpstr>
      <vt:lpstr>Office Theme</vt:lpstr>
      <vt:lpstr>CERTIFICATE OF COMPLETION</vt:lpstr>
      <vt:lpstr>MISE EN PLACE D’UNE APPLICATION WEB DE GESTION ET SUIVI DES STOCKS DANS UNE PHARMACIE HOSPITALIERE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CERTIFICATE OF COMPLETION</dc:title>
  <dc:creator>THERICH Prince</dc:creator>
  <cp:lastModifiedBy>THERICH</cp:lastModifiedBy>
  <cp:revision>4</cp:revision>
  <dcterms:created xsi:type="dcterms:W3CDTF">2026-03-16T11:55:34Z</dcterms:created>
  <dcterms:modified xsi:type="dcterms:W3CDTF">2026-04-30T23:29:03Z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